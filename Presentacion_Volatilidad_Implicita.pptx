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charts/chart2.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08"/>
    <p:restoredTop sz="94610"/>
  </p:normalViewPr>
  <p:slideViewPr>
    <p:cSldViewPr snapToGrid="0" snapToObjects="1">
      <p:cViewPr varScale="1">
        <p:scale>
          <a:sx n="91" d="100"/>
          <a:sy n="91" d="100"/>
        </p:scale>
        <p:origin x="192" y="7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Hoja_de_c_lculo_de_Microsoft_Excel.xlsx"/></Relationships>
</file>

<file path=ppt/charts/_rels/chart2.xml.rels><?xml version="1.0" encoding="UTF-8" standalone="yes"?>
<Relationships xmlns="http://schemas.openxmlformats.org/package/2006/relationships"><Relationship Id="rId1" Type="http://schemas.openxmlformats.org/officeDocument/2006/relationships/package" Target="../embeddings/Hoja_de_c_lculo_de_Microsoft_Excel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autoTitleDeleted val="1"/>
    <c:plotArea>
      <c:layout/>
      <c:barChart>
        <c:barDir val="col"/>
        <c:grouping val="clustered"/>
        <c:varyColors val="0"/>
        <c:ser>
          <c:idx val="0"/>
          <c:order val="0"/>
          <c:tx>
            <c:strRef>
              <c:f>Sheet1!$B$1</c:f>
              <c:strCache>
                <c:ptCount val="1"/>
                <c:pt idx="0">
                  <c:v>Sin penalización</c:v>
                </c:pt>
              </c:strCache>
            </c:strRef>
          </c:tx>
          <c:spPr>
            <a:solidFill>
              <a:srgbClr val="14213D"/>
            </a:solidFill>
            <a:effectLst/>
          </c:spPr>
          <c:invertIfNegative val="0"/>
          <c:dLbls>
            <c:numFmt formatCode="0.000" sourceLinked="0"/>
            <c:spPr>
              <a:noFill/>
              <a:ln>
                <a:noFill/>
              </a:ln>
              <a:effectLst/>
            </c:spPr>
            <c:txPr>
              <a:bodyPr/>
              <a:lstStyle/>
              <a:p>
                <a:pPr>
                  <a:defRPr sz="1000" b="0" i="0" u="none" strike="noStrike">
                    <a:solidFill>
                      <a:srgbClr val="14213D"/>
                    </a:solidFill>
                    <a:latin typeface="Arial"/>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M1 · Lineal</c:v>
                </c:pt>
                <c:pt idx="1">
                  <c:v>M2 · Polinomial g3</c:v>
                </c:pt>
                <c:pt idx="2">
                  <c:v>M3 · Polinomial g6</c:v>
                </c:pt>
              </c:strCache>
            </c:strRef>
          </c:cat>
          <c:val>
            <c:numRef>
              <c:f>Sheet1!$B$2:$B$4</c:f>
              <c:numCache>
                <c:formatCode>General</c:formatCode>
                <c:ptCount val="3"/>
                <c:pt idx="0">
                  <c:v>0.58099999999999996</c:v>
                </c:pt>
                <c:pt idx="1">
                  <c:v>0.73499999999999999</c:v>
                </c:pt>
                <c:pt idx="2">
                  <c:v>0.68200000000000005</c:v>
                </c:pt>
              </c:numCache>
            </c:numRef>
          </c:val>
          <c:extLst>
            <c:ext xmlns:c16="http://schemas.microsoft.com/office/drawing/2014/chart" uri="{C3380CC4-5D6E-409C-BE32-E72D297353CC}">
              <c16:uniqueId val="{00000000-B84C-7F48-8075-3A5B4FC5DDC7}"/>
            </c:ext>
          </c:extLst>
        </c:ser>
        <c:ser>
          <c:idx val="1"/>
          <c:order val="1"/>
          <c:tx>
            <c:strRef>
              <c:f>Sheet1!$C$1</c:f>
              <c:strCache>
                <c:ptCount val="1"/>
                <c:pt idx="0">
                  <c:v>Ridge</c:v>
                </c:pt>
              </c:strCache>
            </c:strRef>
          </c:tx>
          <c:spPr>
            <a:solidFill>
              <a:srgbClr val="6C8EAD"/>
            </a:solidFill>
            <a:effectLst/>
          </c:spPr>
          <c:invertIfNegative val="0"/>
          <c:dLbls>
            <c:numFmt formatCode="0.000" sourceLinked="0"/>
            <c:spPr>
              <a:noFill/>
              <a:ln>
                <a:noFill/>
              </a:ln>
              <a:effectLst/>
            </c:spPr>
            <c:txPr>
              <a:bodyPr/>
              <a:lstStyle/>
              <a:p>
                <a:pPr>
                  <a:defRPr sz="1000" b="0" i="0" u="none" strike="noStrike">
                    <a:solidFill>
                      <a:srgbClr val="14213D"/>
                    </a:solidFill>
                    <a:latin typeface="Arial"/>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M1 · Lineal</c:v>
                </c:pt>
                <c:pt idx="1">
                  <c:v>M2 · Polinomial g3</c:v>
                </c:pt>
                <c:pt idx="2">
                  <c:v>M3 · Polinomial g6</c:v>
                </c:pt>
              </c:strCache>
            </c:strRef>
          </c:cat>
          <c:val>
            <c:numRef>
              <c:f>Sheet1!$C$2:$C$4</c:f>
              <c:numCache>
                <c:formatCode>General</c:formatCode>
                <c:ptCount val="3"/>
                <c:pt idx="0">
                  <c:v>0.58099999999999996</c:v>
                </c:pt>
                <c:pt idx="1">
                  <c:v>0.73499999999999999</c:v>
                </c:pt>
                <c:pt idx="2">
                  <c:v>0.81</c:v>
                </c:pt>
              </c:numCache>
            </c:numRef>
          </c:val>
          <c:extLst>
            <c:ext xmlns:c16="http://schemas.microsoft.com/office/drawing/2014/chart" uri="{C3380CC4-5D6E-409C-BE32-E72D297353CC}">
              <c16:uniqueId val="{00000001-B84C-7F48-8075-3A5B4FC5DDC7}"/>
            </c:ext>
          </c:extLst>
        </c:ser>
        <c:ser>
          <c:idx val="2"/>
          <c:order val="2"/>
          <c:tx>
            <c:strRef>
              <c:f>Sheet1!$D$1</c:f>
              <c:strCache>
                <c:ptCount val="1"/>
                <c:pt idx="0">
                  <c:v>Lasso</c:v>
                </c:pt>
              </c:strCache>
            </c:strRef>
          </c:tx>
          <c:spPr>
            <a:solidFill>
              <a:srgbClr val="1F7A8C"/>
            </a:solidFill>
            <a:effectLst/>
          </c:spPr>
          <c:invertIfNegative val="0"/>
          <c:dLbls>
            <c:numFmt formatCode="0.000" sourceLinked="0"/>
            <c:spPr>
              <a:noFill/>
              <a:ln>
                <a:noFill/>
              </a:ln>
              <a:effectLst/>
            </c:spPr>
            <c:txPr>
              <a:bodyPr/>
              <a:lstStyle/>
              <a:p>
                <a:pPr>
                  <a:defRPr sz="1000" b="0" i="0" u="none" strike="noStrike">
                    <a:solidFill>
                      <a:srgbClr val="14213D"/>
                    </a:solidFill>
                    <a:latin typeface="Arial"/>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M1 · Lineal</c:v>
                </c:pt>
                <c:pt idx="1">
                  <c:v>M2 · Polinomial g3</c:v>
                </c:pt>
                <c:pt idx="2">
                  <c:v>M3 · Polinomial g6</c:v>
                </c:pt>
              </c:strCache>
            </c:strRef>
          </c:cat>
          <c:val>
            <c:numRef>
              <c:f>Sheet1!$D$2:$D$4</c:f>
              <c:numCache>
                <c:formatCode>General</c:formatCode>
                <c:ptCount val="3"/>
                <c:pt idx="0">
                  <c:v>0.58099999999999996</c:v>
                </c:pt>
                <c:pt idx="1">
                  <c:v>0.73499999999999999</c:v>
                </c:pt>
                <c:pt idx="2">
                  <c:v>0.83899999999999997</c:v>
                </c:pt>
              </c:numCache>
            </c:numRef>
          </c:val>
          <c:extLst>
            <c:ext xmlns:c16="http://schemas.microsoft.com/office/drawing/2014/chart" uri="{C3380CC4-5D6E-409C-BE32-E72D297353CC}">
              <c16:uniqueId val="{00000002-B84C-7F48-8075-3A5B4FC5DDC7}"/>
            </c:ext>
          </c:extLst>
        </c:ser>
        <c:ser>
          <c:idx val="3"/>
          <c:order val="3"/>
          <c:tx>
            <c:strRef>
              <c:f>Sheet1!$E$1</c:f>
              <c:strCache>
                <c:ptCount val="1"/>
                <c:pt idx="0">
                  <c:v>ElasticNet</c:v>
                </c:pt>
              </c:strCache>
            </c:strRef>
          </c:tx>
          <c:spPr>
            <a:solidFill>
              <a:srgbClr val="D08C1C"/>
            </a:solidFill>
            <a:effectLst/>
          </c:spPr>
          <c:invertIfNegative val="0"/>
          <c:dLbls>
            <c:numFmt formatCode="0.000" sourceLinked="0"/>
            <c:spPr>
              <a:noFill/>
              <a:ln>
                <a:noFill/>
              </a:ln>
              <a:effectLst/>
            </c:spPr>
            <c:txPr>
              <a:bodyPr/>
              <a:lstStyle/>
              <a:p>
                <a:pPr>
                  <a:defRPr sz="1000" b="0" i="0" u="none" strike="noStrike">
                    <a:solidFill>
                      <a:srgbClr val="14213D"/>
                    </a:solidFill>
                    <a:latin typeface="Arial"/>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M1 · Lineal</c:v>
                </c:pt>
                <c:pt idx="1">
                  <c:v>M2 · Polinomial g3</c:v>
                </c:pt>
                <c:pt idx="2">
                  <c:v>M3 · Polinomial g6</c:v>
                </c:pt>
              </c:strCache>
            </c:strRef>
          </c:cat>
          <c:val>
            <c:numRef>
              <c:f>Sheet1!$E$2:$E$4</c:f>
              <c:numCache>
                <c:formatCode>General</c:formatCode>
                <c:ptCount val="3"/>
                <c:pt idx="0">
                  <c:v>0.58099999999999996</c:v>
                </c:pt>
                <c:pt idx="1">
                  <c:v>0.73499999999999999</c:v>
                </c:pt>
                <c:pt idx="2">
                  <c:v>0.83799999999999997</c:v>
                </c:pt>
              </c:numCache>
            </c:numRef>
          </c:val>
          <c:extLst>
            <c:ext xmlns:c16="http://schemas.microsoft.com/office/drawing/2014/chart" uri="{C3380CC4-5D6E-409C-BE32-E72D297353CC}">
              <c16:uniqueId val="{00000003-B84C-7F48-8075-3A5B4FC5DDC7}"/>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4213D"/>
                </a:solidFill>
                <a:latin typeface="Arial"/>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9525" cap="flat">
              <a:solidFill>
                <a:srgbClr val="DAD5CA"/>
              </a:solidFill>
              <a:prstDash val="solid"/>
              <a:round/>
            </a:ln>
          </c:spPr>
        </c:majorGridlines>
        <c:title>
          <c:tx>
            <c:rich>
              <a:bodyPr/>
              <a:lstStyle/>
              <a:p>
                <a:pPr>
                  <a:defRPr sz="1200" b="0" i="0" u="none" strike="noStrike">
                    <a:solidFill>
                      <a:srgbClr val="5B6472"/>
                    </a:solidFill>
                    <a:latin typeface="Arial"/>
                  </a:defRPr>
                </a:pPr>
                <a:r>
                  <a:rPr sz="1200" b="0" i="0" u="none" strike="noStrike">
                    <a:solidFill>
                      <a:srgbClr val="5B6472"/>
                    </a:solidFill>
                    <a:latin typeface="Arial"/>
                  </a:rPr>
                  <a:t>R² de validación cruzada</a:t>
                </a:r>
              </a:p>
            </c:rich>
          </c:tx>
          <c:overlay val="0"/>
        </c:title>
        <c:numFmt formatCode="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472"/>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4213D"/>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title>
      <c:tx>
        <c:rich>
          <a:bodyPr/>
          <a:lstStyle/>
          <a:p>
            <a:pPr>
              <a:defRPr sz="1300" b="0" i="0" u="none" strike="noStrike">
                <a:solidFill>
                  <a:srgbClr val="14213D"/>
                </a:solidFill>
                <a:latin typeface="Calibri"/>
              </a:defRPr>
            </a:pPr>
            <a:r>
              <a:rPr sz="1300" b="0" i="0" u="none" strike="noStrike">
                <a:solidFill>
                  <a:srgbClr val="14213D"/>
                </a:solidFill>
                <a:latin typeface="Calibri"/>
              </a:rPr>
              <a:t>Modelo 3: R² en cada pliegue de validación cruzada</a:t>
            </a:r>
          </a:p>
        </c:rich>
      </c:tx>
      <c:overlay val="0"/>
    </c:title>
    <c:autoTitleDeleted val="0"/>
    <c:plotArea>
      <c:layout/>
      <c:barChart>
        <c:barDir val="col"/>
        <c:grouping val="clustered"/>
        <c:varyColors val="0"/>
        <c:ser>
          <c:idx val="0"/>
          <c:order val="0"/>
          <c:tx>
            <c:strRef>
              <c:f>Sheet1!$B$1</c:f>
              <c:strCache>
                <c:ptCount val="1"/>
                <c:pt idx="0">
                  <c:v>Sin penalización</c:v>
                </c:pt>
              </c:strCache>
            </c:strRef>
          </c:tx>
          <c:spPr>
            <a:solidFill>
              <a:srgbClr val="14213D"/>
            </a:solidFill>
            <a:effectLst/>
          </c:spPr>
          <c:invertIfNegative val="0"/>
          <c:dLbls>
            <c:numFmt formatCode="0.00" sourceLinked="0"/>
            <c:spPr>
              <a:noFill/>
              <a:ln>
                <a:noFill/>
              </a:ln>
              <a:effectLst/>
            </c:spPr>
            <c:txPr>
              <a:bodyPr/>
              <a:lstStyle/>
              <a:p>
                <a:pPr>
                  <a:defRPr sz="1100" b="0" i="0" u="none" strike="noStrike">
                    <a:solidFill>
                      <a:srgbClr val="14213D"/>
                    </a:solidFill>
                    <a:latin typeface="Arial"/>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Pliegue 1</c:v>
                </c:pt>
                <c:pt idx="1">
                  <c:v>Pliegue 2</c:v>
                </c:pt>
                <c:pt idx="2">
                  <c:v>Pliegue 3</c:v>
                </c:pt>
                <c:pt idx="3">
                  <c:v>Pliegue 4</c:v>
                </c:pt>
                <c:pt idx="4">
                  <c:v>Pliegue 5</c:v>
                </c:pt>
              </c:strCache>
            </c:strRef>
          </c:cat>
          <c:val>
            <c:numRef>
              <c:f>Sheet1!$B$2:$B$6</c:f>
              <c:numCache>
                <c:formatCode>General</c:formatCode>
                <c:ptCount val="5"/>
                <c:pt idx="0">
                  <c:v>0.80369999999999997</c:v>
                </c:pt>
                <c:pt idx="1">
                  <c:v>0.86370000000000002</c:v>
                </c:pt>
                <c:pt idx="2">
                  <c:v>0.83299999999999996</c:v>
                </c:pt>
                <c:pt idx="3">
                  <c:v>0.69359999999999999</c:v>
                </c:pt>
                <c:pt idx="4">
                  <c:v>0.21759999999999999</c:v>
                </c:pt>
              </c:numCache>
            </c:numRef>
          </c:val>
          <c:extLst>
            <c:ext xmlns:c16="http://schemas.microsoft.com/office/drawing/2014/chart" uri="{C3380CC4-5D6E-409C-BE32-E72D297353CC}">
              <c16:uniqueId val="{00000000-5152-2D4D-8BA8-A9C46A3A090F}"/>
            </c:ext>
          </c:extLst>
        </c:ser>
        <c:ser>
          <c:idx val="1"/>
          <c:order val="1"/>
          <c:tx>
            <c:strRef>
              <c:f>Sheet1!$C$1</c:f>
              <c:strCache>
                <c:ptCount val="1"/>
                <c:pt idx="0">
                  <c:v>Lasso</c:v>
                </c:pt>
              </c:strCache>
            </c:strRef>
          </c:tx>
          <c:spPr>
            <a:solidFill>
              <a:srgbClr val="1F7A8C"/>
            </a:solidFill>
            <a:effectLst/>
          </c:spPr>
          <c:invertIfNegative val="0"/>
          <c:dLbls>
            <c:numFmt formatCode="0.00" sourceLinked="0"/>
            <c:spPr>
              <a:noFill/>
              <a:ln>
                <a:noFill/>
              </a:ln>
              <a:effectLst/>
            </c:spPr>
            <c:txPr>
              <a:bodyPr/>
              <a:lstStyle/>
              <a:p>
                <a:pPr>
                  <a:defRPr sz="1100" b="0" i="0" u="none" strike="noStrike">
                    <a:solidFill>
                      <a:srgbClr val="14213D"/>
                    </a:solidFill>
                    <a:latin typeface="Arial"/>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Pliegue 1</c:v>
                </c:pt>
                <c:pt idx="1">
                  <c:v>Pliegue 2</c:v>
                </c:pt>
                <c:pt idx="2">
                  <c:v>Pliegue 3</c:v>
                </c:pt>
                <c:pt idx="3">
                  <c:v>Pliegue 4</c:v>
                </c:pt>
                <c:pt idx="4">
                  <c:v>Pliegue 5</c:v>
                </c:pt>
              </c:strCache>
            </c:strRef>
          </c:cat>
          <c:val>
            <c:numRef>
              <c:f>Sheet1!$C$2:$C$6</c:f>
              <c:numCache>
                <c:formatCode>General</c:formatCode>
                <c:ptCount val="5"/>
                <c:pt idx="0">
                  <c:v>0.84219999999999995</c:v>
                </c:pt>
                <c:pt idx="1">
                  <c:v>0.86170000000000002</c:v>
                </c:pt>
                <c:pt idx="2">
                  <c:v>0.83240000000000003</c:v>
                </c:pt>
                <c:pt idx="3">
                  <c:v>0.81189999999999996</c:v>
                </c:pt>
                <c:pt idx="4">
                  <c:v>0.84430000000000005</c:v>
                </c:pt>
              </c:numCache>
            </c:numRef>
          </c:val>
          <c:extLst>
            <c:ext xmlns:c16="http://schemas.microsoft.com/office/drawing/2014/chart" uri="{C3380CC4-5D6E-409C-BE32-E72D297353CC}">
              <c16:uniqueId val="{00000001-5152-2D4D-8BA8-A9C46A3A090F}"/>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4213D"/>
                </a:solidFill>
                <a:latin typeface="Arial"/>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9525" cap="flat">
              <a:solidFill>
                <a:srgbClr val="DAD5CA"/>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472"/>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200">
              <a:solidFill>
                <a:srgbClr val="14213D"/>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8418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Nuestro proyecto modela la volatilidad implícita de opciones sobre acciones con regresión. La pregunta es qué tan bien se puede explicar la volatilidad que el mercado cobra en cada contrato a partir de características observables del contrato, y qué tipo de modelo lo hace mejor. Todo el código y los datos están en el repositorio; esta presentación no tiene código.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objetivo general es construir y comparar modelos de regresión para la volatilidad implícita y decidir qué complejidad y qué penalización funcionan mejor. Los específicos son los pasos: entender los datos, transformarlos, armar un pipeline, ajustar tres modelos en cuatro versiones cada uno, usar los residuos para decidir cada cambio, revisar significancia y los seis problemas de la regresión, y comparar los doce ajustes. Las conclusiones al final se amarran a estos objetivos.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volatilidad implícita es la volatilidad que, metida en Black–Scholes, reproduce el precio de mercado. El modelo supone que es la misma para todos los contratos de un activo. Esta gráfica muestra que no: para SPY a 19 días, la volatilidad baja conforme el strike se acerca al precio actual y luego vuelve a subir. Del lado izquierdo está mucho más alta: es la prima que el mercado paga por protegerse de caídas. Además calls y puts no coinciden. Esa curva es lo que queremos modelar.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Descargamos las cadenas de opciones de seis subyacentes: el ETF del S&amp;P 500 y cinco acciones con perfiles de volatilidad distintos, con ocho vencimientos cada uno, calls y puts. Son casi 9 mil contratos. Casi la mitad se fue en la limpieza: contratos sin postura de compra, con volatilidades degeneradas o muy lejos del dinero. La mayoría de los strikes listados casi no se operan. Quedan 4,710 contratos.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más importante es el log-moneyness: un strike de 500 no significa lo mismo en SPY que en NVDA, pero el logaritmo de strike entre precio sí es comparable. La liquidez va en logaritmo porque tiene colas enormes. Los factores cualitativos se vuelven dummies, con AAPL como categoría base. Y la variable dependiente es el logaritmo de la volatilidad; esa decisión la tomamos viendo los residuos.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pipeline tiene seis pasos. Los tres primeros preparan los datos. Luego se separa 75 por ciento para entrenar y 25 para probar. El detalle importante está en el paso cinco: el escalamiento y la generación de potencias viven dentro del pipeline de scikit-learn y aprenden sus parámetros solo con el conjunto de entrenamiento. Si escaláramos todo antes de separar, información del conjunto de prueba se filtraría al entrenamiento. El alpha de cada penalización se elige con validación cruzada de cinco pliegues.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primero es lineal, todo aditivo. El segundo agrega potencias hasta grado tres del moneyness y el plazo, lo que incluye sus productos cruzados, y una interacción entre el tipo de opción y el moneyness. El tercero agrega la liquidez y sube a grado seis: son 216 columnas, y lo construimos así a propósito para ver si la regularización sirve cuando el modelo es grande. Cada uno se ajusta en cuatro versiones, doce ajustes en total.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hilo conductor del trabajo: cada cambio salió de un defecto en los residuos. Antes de estos tres, un modelo con la volatilidad sin transformar tenía residuos sesgados y en forma de embudo; eso nos llevó al logaritmo. En el Modelo 1 la línea naranja, que es el residuo promedio, forma una U contra el moneyness: el modelo no ve la sonrisa. El Modelo 2 agrega el polinomio y la U casi desaparece, pero los residuos seguían relacionados con la liquidez, así que el Modelo 3 la incluye. En el Modelo 3 los residuos quedan planos y angostos.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están los doce ajustes, medidos con R² de validación cruzada. Primero, la curvatura importa: pasar de lineal a polinomial sube el R² de 0.58 a 0.735. Segundo, en los modelos chicos la regularización no hace nada: las cuatro barras son iguales, porque con 3,500 observaciones y 8 o 16 columnas no hay sobreajuste. Tercero, en el modelo grande sí cambia todo: Lasso y ElasticNet llegan a 0.84 y la versión sin penalización se queda en 0.68.</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hallazgo principal. Si solo miráramos el conjunto de prueba, elegiríamos el Modelo 3 sin penalización: tiene el R² de prueba más alto de los doce. Pero al revisar cada pliegue de la validación cruzada, en uno cae a 0.22. Con 216 columnas muy correlacionadas, mínimos cuadrados produce coeficientes grandes que se cancelan entre sí, y con datos un poco distintos la predicción se dispara. Lasso es estable en los cinco pliegues y además elimina 80 columnas. Por eso elegimos el modelo por validación cruzada y no por una sola partición.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significancia la revisamos solo en los modelos sin penalización, porque los p-values de Ridge o Lasso no son válidos. En el Modelo 2, quince de dieciséis factores son significativos. El coeficiente negativo del moneyness es el skew. El cuadrado positivo confirma la sonrisa y el cubo que es asimétrica. La interacción put por moneyness dice que calls y puts tienen pendientes distintas, y el producto moneyness por plazo dice que el skew se aplana en los vencimientos largos. El único no significativo es MSFT frente a AAPL. Como hay heterocedasticidad, recalculamos con errores robustos y todo se sostiene.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Revisamos los seis problemas sobre el Modelo 2. No hay correlación de errores, lo cual tiene sentido porque los datos no son una serie de tiempo. Sí queda no linealidad, que es justo lo que ataca el Modelo 3. La colinealidad está concentrada en las potencias del plazo, porque solo hay ocho vencimientos por subyacente. Los outliers son pocos y son contratos ilíquidos de corto plazo; los puntos de alto leverage están en las esquinas de la superficie. Y hay heterocedasticidad ligada a la liquidez, que tratamos con errores estándar robustos.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Regresando a los objetivos. Uno: la volatilidad implícita no es constante; depende de forma no lineal del moneyness y del plazo, con pendientes distintas para calls y puts. Dos: la complejidad paga, el R² sube de 0.58 a 0.735 y a 0.84. Tres: en el modelo grande la regularización deja de ser opcional; Lasso fue el mejor, estable y con 80 columnas menos. La lección más útil es metodológica: el R² de una sola partición de prueba puede premiar a un modelo inestable, y la validación cruzada fue la que lo descubrió. Como limitaciones, es una sola fecha de mercado y el modelo interpola dentro de la superficie.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referencias completas en APA están al final del notebook. Todo el código, el dataset y el notebook que documenta la descarga de los datos están en el repositorio. Gracias.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txBox="1"/>
          <p:nvPr/>
        </p:nvSpPr>
        <p:spPr>
          <a:xfrm>
            <a:off x="548640" y="640080"/>
            <a:ext cx="9144000" cy="274320"/>
          </a:xfrm>
          <a:prstGeom prst="rect">
            <a:avLst/>
          </a:prstGeom>
          <a:noFill/>
          <a:ln/>
        </p:spPr>
        <p:txBody>
          <a:bodyPr wrap="square" lIns="0" tIns="0" rIns="0" bIns="0" rtlCol="0" anchor="ctr"/>
          <a:lstStyle/>
          <a:p>
            <a:pPr marL="0" indent="0">
              <a:buNone/>
            </a:pPr>
            <a:r>
              <a:rPr lang="en-US" sz="1200" b="1" kern="0" spc="200" dirty="0">
                <a:solidFill>
                  <a:srgbClr val="8FC3CE"/>
                </a:solidFill>
                <a:latin typeface="Calibri" pitchFamily="34" charset="0"/>
                <a:ea typeface="Calibri" pitchFamily="34" charset="-122"/>
                <a:cs typeface="Calibri" pitchFamily="34" charset="-120"/>
              </a:rPr>
              <a:t>PROYECTO FINAL · ANÁLISIS DE REGRESIÓN · ITESO</a:t>
            </a:r>
            <a:endParaRPr lang="en-US" sz="1200" dirty="0"/>
          </a:p>
        </p:txBody>
      </p:sp>
      <p:sp>
        <p:nvSpPr>
          <p:cNvPr id="3" name="Text 1"/>
          <p:cNvSpPr txBox="1"/>
          <p:nvPr/>
        </p:nvSpPr>
        <p:spPr>
          <a:xfrm>
            <a:off x="548640" y="2011680"/>
            <a:ext cx="10058400" cy="1737360"/>
          </a:xfrm>
          <a:prstGeom prst="rect">
            <a:avLst/>
          </a:prstGeom>
          <a:noFill/>
          <a:ln/>
        </p:spPr>
        <p:txBody>
          <a:bodyPr wrap="square" lIns="0" tIns="0" rIns="0" bIns="0" rtlCol="0" anchor="t"/>
          <a:lstStyle/>
          <a:p>
            <a:pPr marL="0" indent="0">
              <a:buNone/>
            </a:pPr>
            <a:r>
              <a:rPr lang="en-US" sz="5400" b="1" dirty="0">
                <a:solidFill>
                  <a:srgbClr val="F6F4EF"/>
                </a:solidFill>
                <a:latin typeface="Cambria" pitchFamily="34" charset="0"/>
                <a:ea typeface="Cambria" pitchFamily="34" charset="-122"/>
                <a:cs typeface="Cambria" pitchFamily="34" charset="-120"/>
              </a:rPr>
              <a:t>La superficie de volatilidad implícita</a:t>
            </a:r>
            <a:endParaRPr lang="en-US" sz="5400" dirty="0"/>
          </a:p>
        </p:txBody>
      </p:sp>
      <p:sp>
        <p:nvSpPr>
          <p:cNvPr id="4" name="Text 2"/>
          <p:cNvSpPr txBox="1"/>
          <p:nvPr/>
        </p:nvSpPr>
        <p:spPr>
          <a:xfrm>
            <a:off x="548640" y="3840480"/>
            <a:ext cx="9601200" cy="822960"/>
          </a:xfrm>
          <a:prstGeom prst="rect">
            <a:avLst/>
          </a:prstGeom>
          <a:noFill/>
          <a:ln/>
        </p:spPr>
        <p:txBody>
          <a:bodyPr wrap="square" lIns="0" tIns="0" rIns="0" bIns="0" rtlCol="0" anchor="t"/>
          <a:lstStyle/>
          <a:p>
            <a:pPr marL="0" indent="0">
              <a:buNone/>
            </a:pPr>
            <a:r>
              <a:rPr lang="en-US" sz="2200" dirty="0">
                <a:solidFill>
                  <a:srgbClr val="C9D3E0"/>
                </a:solidFill>
                <a:latin typeface="Calibri" pitchFamily="34" charset="0"/>
                <a:ea typeface="Calibri" pitchFamily="34" charset="-122"/>
                <a:cs typeface="Calibri" pitchFamily="34" charset="-120"/>
              </a:rPr>
              <a:t>Regresión lineal, polinomial y regularizada sobre 4,710 opciones bursátiles</a:t>
            </a:r>
            <a:endParaRPr lang="en-US" sz="2200" dirty="0"/>
          </a:p>
        </p:txBody>
      </p:sp>
      <p:sp>
        <p:nvSpPr>
          <p:cNvPr id="5" name="Text 3"/>
          <p:cNvSpPr txBox="1"/>
          <p:nvPr/>
        </p:nvSpPr>
        <p:spPr>
          <a:xfrm>
            <a:off x="548640" y="5852160"/>
            <a:ext cx="7315200" cy="365760"/>
          </a:xfrm>
          <a:prstGeom prst="rect">
            <a:avLst/>
          </a:prstGeom>
          <a:noFill/>
          <a:ln/>
        </p:spPr>
        <p:txBody>
          <a:bodyPr wrap="square" lIns="0" tIns="0" rIns="0" bIns="0" rtlCol="0" anchor="ctr"/>
          <a:lstStyle/>
          <a:p>
            <a:pPr marL="0" indent="0">
              <a:buNone/>
            </a:pPr>
            <a:r>
              <a:rPr lang="en-US" sz="1600" dirty="0">
                <a:solidFill>
                  <a:srgbClr val="C9D3E0"/>
                </a:solidFill>
                <a:latin typeface="Calibri" pitchFamily="34" charset="0"/>
                <a:ea typeface="Calibri" pitchFamily="34" charset="-122"/>
                <a:cs typeface="Calibri" pitchFamily="34" charset="-120"/>
              </a:rPr>
              <a:t>Alexa Valdivia y David Farias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F"/>
        </a:solidFill>
        <a:effectLst/>
      </p:bgPr>
    </p:bg>
    <p:spTree>
      <p:nvGrpSpPr>
        <p:cNvPr id="1" name=""/>
        <p:cNvGrpSpPr/>
        <p:nvPr/>
      </p:nvGrpSpPr>
      <p:grpSpPr>
        <a:xfrm>
          <a:off x="0" y="0"/>
          <a:ext cx="0" cy="0"/>
          <a:chOff x="0" y="0"/>
          <a:chExt cx="0" cy="0"/>
        </a:xfrm>
      </p:grpSpPr>
      <p:sp>
        <p:nvSpPr>
          <p:cNvPr id="2" name="Text 0"/>
          <p:cNvSpPr txBox="1"/>
          <p:nvPr/>
        </p:nvSpPr>
        <p:spPr>
          <a:xfrm>
            <a:off x="548640" y="6355080"/>
            <a:ext cx="7315200" cy="274320"/>
          </a:xfrm>
          <a:prstGeom prst="rect">
            <a:avLst/>
          </a:prstGeom>
          <a:noFill/>
          <a:ln/>
        </p:spPr>
        <p:txBody>
          <a:bodyPr wrap="square" lIns="0" tIns="0" rIns="0" bIns="0" rtlCol="0" anchor="ctr"/>
          <a:lstStyle/>
          <a:p>
            <a:pPr marL="0" indent="0">
              <a:buNone/>
            </a:pPr>
            <a:r>
              <a:rPr lang="en-US" sz="1100" dirty="0">
                <a:solidFill>
                  <a:srgbClr val="5B6472"/>
                </a:solidFill>
                <a:latin typeface="Calibri" pitchFamily="34" charset="0"/>
                <a:ea typeface="Calibri" pitchFamily="34" charset="-122"/>
                <a:cs typeface="Calibri" pitchFamily="34" charset="-120"/>
              </a:rPr>
              <a:t>Superficie de volatilidad implícita · Análisis de Regresión</a:t>
            </a:r>
            <a:endParaRPr lang="en-US" sz="1100" dirty="0"/>
          </a:p>
        </p:txBody>
      </p:sp>
      <p:sp>
        <p:nvSpPr>
          <p:cNvPr id="3" name="Text 1"/>
          <p:cNvSpPr txBox="1"/>
          <p:nvPr/>
        </p:nvSpPr>
        <p:spPr>
          <a:xfrm>
            <a:off x="10728655" y="6355080"/>
            <a:ext cx="914400" cy="274320"/>
          </a:xfrm>
          <a:prstGeom prst="rect">
            <a:avLst/>
          </a:prstGeom>
          <a:noFill/>
          <a:ln/>
        </p:spPr>
        <p:txBody>
          <a:bodyPr wrap="square" lIns="0" tIns="0" rIns="0" bIns="0" rtlCol="0" anchor="ctr"/>
          <a:lstStyle/>
          <a:p>
            <a:pPr marL="0" indent="0" algn="r">
              <a:buNone/>
            </a:pPr>
            <a:r>
              <a:rPr lang="en-US" sz="1100" dirty="0">
                <a:solidFill>
                  <a:srgbClr val="5B6472"/>
                </a:solidFill>
                <a:latin typeface="Calibri" pitchFamily="34" charset="0"/>
                <a:ea typeface="Calibri" pitchFamily="34" charset="-122"/>
                <a:cs typeface="Calibri" pitchFamily="34" charset="-120"/>
              </a:rPr>
              <a:t>2</a:t>
            </a:r>
            <a:endParaRPr lang="en-US" sz="1100" dirty="0"/>
          </a:p>
        </p:txBody>
      </p:sp>
      <p:sp>
        <p:nvSpPr>
          <p:cNvPr id="4" name="Text 2"/>
          <p:cNvSpPr txBox="1"/>
          <p:nvPr/>
        </p:nvSpPr>
        <p:spPr>
          <a:xfrm>
            <a:off x="548640" y="411480"/>
            <a:ext cx="11094415" cy="731520"/>
          </a:xfrm>
          <a:prstGeom prst="rect">
            <a:avLst/>
          </a:prstGeom>
          <a:noFill/>
          <a:ln/>
        </p:spPr>
        <p:txBody>
          <a:bodyPr wrap="square" lIns="0" tIns="0" rIns="0" bIns="0" rtlCol="0" anchor="t"/>
          <a:lstStyle/>
          <a:p>
            <a:pPr marL="0" indent="0">
              <a:buNone/>
            </a:pPr>
            <a:r>
              <a:rPr lang="en-US" sz="3400" b="1" dirty="0">
                <a:solidFill>
                  <a:srgbClr val="14213D"/>
                </a:solidFill>
                <a:latin typeface="Cambria" pitchFamily="34" charset="0"/>
                <a:ea typeface="Cambria" pitchFamily="34" charset="-122"/>
                <a:cs typeface="Cambria" pitchFamily="34" charset="-120"/>
              </a:rPr>
              <a:t>Objetivos</a:t>
            </a:r>
            <a:endParaRPr lang="en-US" sz="3400" dirty="0"/>
          </a:p>
        </p:txBody>
      </p:sp>
      <p:sp>
        <p:nvSpPr>
          <p:cNvPr id="5" name="Shape 3"/>
          <p:cNvSpPr/>
          <p:nvPr/>
        </p:nvSpPr>
        <p:spPr>
          <a:xfrm>
            <a:off x="548640" y="1417320"/>
            <a:ext cx="5318608" cy="3383280"/>
          </a:xfrm>
          <a:prstGeom prst="roundRect">
            <a:avLst>
              <a:gd name="adj" fmla="val 3243"/>
            </a:avLst>
          </a:prstGeom>
          <a:solidFill>
            <a:srgbClr val="ECE7DC"/>
          </a:solidFill>
          <a:ln w="12700">
            <a:solidFill>
              <a:srgbClr val="ECE7DC"/>
            </a:solidFill>
            <a:prstDash val="solid"/>
          </a:ln>
        </p:spPr>
        <p:txBody>
          <a:bodyPr/>
          <a:lstStyle/>
          <a:p>
            <a:endParaRPr lang="es-MX"/>
          </a:p>
        </p:txBody>
      </p:sp>
      <p:sp>
        <p:nvSpPr>
          <p:cNvPr id="6" name="Text 4"/>
          <p:cNvSpPr txBox="1"/>
          <p:nvPr/>
        </p:nvSpPr>
        <p:spPr>
          <a:xfrm>
            <a:off x="914400" y="1737360"/>
            <a:ext cx="4587088" cy="274320"/>
          </a:xfrm>
          <a:prstGeom prst="rect">
            <a:avLst/>
          </a:prstGeom>
          <a:noFill/>
          <a:ln/>
        </p:spPr>
        <p:txBody>
          <a:bodyPr wrap="square" lIns="0" tIns="0" rIns="0" bIns="0" rtlCol="0" anchor="ctr"/>
          <a:lstStyle/>
          <a:p>
            <a:pPr marL="0" indent="0">
              <a:buNone/>
            </a:pPr>
            <a:r>
              <a:rPr lang="en-US" sz="1200" b="1" kern="0" spc="200" dirty="0">
                <a:solidFill>
                  <a:srgbClr val="1F7A8C"/>
                </a:solidFill>
                <a:latin typeface="Calibri" pitchFamily="34" charset="0"/>
                <a:ea typeface="Calibri" pitchFamily="34" charset="-122"/>
                <a:cs typeface="Calibri" pitchFamily="34" charset="-120"/>
              </a:rPr>
              <a:t>GENERAL</a:t>
            </a:r>
            <a:endParaRPr lang="en-US" sz="1200" dirty="0"/>
          </a:p>
        </p:txBody>
      </p:sp>
      <p:sp>
        <p:nvSpPr>
          <p:cNvPr id="7" name="Text 5"/>
          <p:cNvSpPr txBox="1"/>
          <p:nvPr/>
        </p:nvSpPr>
        <p:spPr>
          <a:xfrm>
            <a:off x="914400" y="2148840"/>
            <a:ext cx="4587088" cy="2468880"/>
          </a:xfrm>
          <a:prstGeom prst="rect">
            <a:avLst/>
          </a:prstGeom>
          <a:noFill/>
          <a:ln/>
        </p:spPr>
        <p:txBody>
          <a:bodyPr wrap="square" lIns="0" tIns="0" rIns="0" bIns="0" rtlCol="0" anchor="t"/>
          <a:lstStyle/>
          <a:p>
            <a:pPr marL="0" indent="0">
              <a:lnSpc>
                <a:spcPct val="120000"/>
              </a:lnSpc>
              <a:buNone/>
            </a:pPr>
            <a:r>
              <a:rPr lang="en-US" sz="2000" dirty="0">
                <a:solidFill>
                  <a:srgbClr val="14213D"/>
                </a:solidFill>
                <a:latin typeface="Cambria" pitchFamily="34" charset="0"/>
                <a:ea typeface="Cambria" pitchFamily="34" charset="-122"/>
                <a:cs typeface="Cambria" pitchFamily="34" charset="-120"/>
              </a:rPr>
              <a:t>Construir y comparar modelos de regresión que expliquen la volatilidad implícita de las opciones a partir de las características del contrato, y determinar qué complejidad y qué penalización describen mejor la superficie.</a:t>
            </a:r>
            <a:endParaRPr lang="en-US" sz="2000" dirty="0"/>
          </a:p>
        </p:txBody>
      </p:sp>
      <p:sp>
        <p:nvSpPr>
          <p:cNvPr id="8" name="Text 6"/>
          <p:cNvSpPr txBox="1"/>
          <p:nvPr/>
        </p:nvSpPr>
        <p:spPr>
          <a:xfrm>
            <a:off x="6324448" y="1737360"/>
            <a:ext cx="5318608" cy="274320"/>
          </a:xfrm>
          <a:prstGeom prst="rect">
            <a:avLst/>
          </a:prstGeom>
          <a:noFill/>
          <a:ln/>
        </p:spPr>
        <p:txBody>
          <a:bodyPr wrap="square" lIns="0" tIns="0" rIns="0" bIns="0" rtlCol="0" anchor="ctr"/>
          <a:lstStyle/>
          <a:p>
            <a:pPr marL="0" indent="0">
              <a:buNone/>
            </a:pPr>
            <a:r>
              <a:rPr lang="en-US" sz="1200" b="1" kern="0" spc="200" dirty="0">
                <a:solidFill>
                  <a:srgbClr val="1F7A8C"/>
                </a:solidFill>
                <a:latin typeface="Calibri" pitchFamily="34" charset="0"/>
                <a:ea typeface="Calibri" pitchFamily="34" charset="-122"/>
                <a:cs typeface="Calibri" pitchFamily="34" charset="-120"/>
              </a:rPr>
              <a:t>ESPECÍFICOS</a:t>
            </a:r>
            <a:endParaRPr lang="en-US" sz="1200" dirty="0"/>
          </a:p>
        </p:txBody>
      </p:sp>
      <p:sp>
        <p:nvSpPr>
          <p:cNvPr id="9" name="Text 7"/>
          <p:cNvSpPr txBox="1"/>
          <p:nvPr/>
        </p:nvSpPr>
        <p:spPr>
          <a:xfrm>
            <a:off x="6324448" y="2148840"/>
            <a:ext cx="5318608" cy="3657600"/>
          </a:xfrm>
          <a:prstGeom prst="rect">
            <a:avLst/>
          </a:prstGeom>
          <a:noFill/>
          <a:ln/>
        </p:spPr>
        <p:txBody>
          <a:bodyPr wrap="square" lIns="0" tIns="0" rIns="0" bIns="0" rtlCol="0" anchor="t"/>
          <a:lstStyle/>
          <a:p>
            <a:pPr marL="342900" indent="-342900">
              <a:spcAft>
                <a:spcPts val="800"/>
              </a:spcAft>
              <a:buSzPct val="100000"/>
              <a:buFont typeface="+mj-lt"/>
              <a:buAutoNum type="arabicPeriod"/>
            </a:pPr>
            <a:r>
              <a:rPr lang="en-US" sz="1700" dirty="0">
                <a:solidFill>
                  <a:srgbClr val="3E4A5C"/>
                </a:solidFill>
                <a:latin typeface="Calibri" pitchFamily="34" charset="0"/>
                <a:ea typeface="Calibri" pitchFamily="34" charset="-122"/>
                <a:cs typeface="Calibri" pitchFamily="34" charset="-120"/>
              </a:rPr>
              <a:t>Analizar el dataset: origen, contenido y calidad</a:t>
            </a:r>
            <a:endParaRPr lang="en-US" sz="1700" dirty="0"/>
          </a:p>
          <a:p>
            <a:pPr marL="342900" indent="-342900">
              <a:spcAft>
                <a:spcPts val="800"/>
              </a:spcAft>
              <a:buSzPct val="100000"/>
              <a:buFont typeface="+mj-lt"/>
              <a:buAutoNum type="arabicPeriod"/>
            </a:pPr>
            <a:r>
              <a:rPr lang="en-US" sz="1700" dirty="0">
                <a:solidFill>
                  <a:srgbClr val="3E4A5C"/>
                </a:solidFill>
                <a:latin typeface="Calibri" pitchFamily="34" charset="0"/>
                <a:ea typeface="Calibri" pitchFamily="34" charset="-122"/>
                <a:cs typeface="Calibri" pitchFamily="34" charset="-120"/>
              </a:rPr>
              <a:t>Transformar las variables para la regresión</a:t>
            </a:r>
            <a:endParaRPr lang="en-US" sz="1700" dirty="0"/>
          </a:p>
          <a:p>
            <a:pPr marL="342900" indent="-342900">
              <a:spcAft>
                <a:spcPts val="800"/>
              </a:spcAft>
              <a:buSzPct val="100000"/>
              <a:buFont typeface="+mj-lt"/>
              <a:buAutoNum type="arabicPeriod"/>
            </a:pPr>
            <a:r>
              <a:rPr lang="en-US" sz="1700" dirty="0">
                <a:solidFill>
                  <a:srgbClr val="3E4A5C"/>
                </a:solidFill>
                <a:latin typeface="Calibri" pitchFamily="34" charset="0"/>
                <a:ea typeface="Calibri" pitchFamily="34" charset="-122"/>
                <a:cs typeface="Calibri" pitchFamily="34" charset="-120"/>
              </a:rPr>
              <a:t>Construir un pipeline reproducible</a:t>
            </a:r>
            <a:endParaRPr lang="en-US" sz="1700" dirty="0"/>
          </a:p>
          <a:p>
            <a:pPr marL="342900" indent="-342900">
              <a:spcAft>
                <a:spcPts val="800"/>
              </a:spcAft>
              <a:buSzPct val="100000"/>
              <a:buFont typeface="+mj-lt"/>
              <a:buAutoNum type="arabicPeriod"/>
            </a:pPr>
            <a:r>
              <a:rPr lang="en-US" sz="1700" dirty="0">
                <a:solidFill>
                  <a:srgbClr val="3E4A5C"/>
                </a:solidFill>
                <a:latin typeface="Calibri" pitchFamily="34" charset="0"/>
                <a:ea typeface="Calibri" pitchFamily="34" charset="-122"/>
                <a:cs typeface="Calibri" pitchFamily="34" charset="-120"/>
              </a:rPr>
              <a:t>Ajustar 3 modelos × 4 versiones</a:t>
            </a:r>
            <a:endParaRPr lang="en-US" sz="1700" dirty="0"/>
          </a:p>
          <a:p>
            <a:pPr marL="342900" indent="-342900">
              <a:spcAft>
                <a:spcPts val="800"/>
              </a:spcAft>
              <a:buSzPct val="100000"/>
              <a:buFont typeface="+mj-lt"/>
              <a:buAutoNum type="arabicPeriod"/>
            </a:pPr>
            <a:r>
              <a:rPr lang="en-US" sz="1700" dirty="0">
                <a:solidFill>
                  <a:srgbClr val="3E4A5C"/>
                </a:solidFill>
                <a:latin typeface="Calibri" pitchFamily="34" charset="0"/>
                <a:ea typeface="Calibri" pitchFamily="34" charset="-122"/>
                <a:cs typeface="Calibri" pitchFamily="34" charset="-120"/>
              </a:rPr>
              <a:t>Usar los residuos para guiar cada transformación</a:t>
            </a:r>
            <a:endParaRPr lang="en-US" sz="1700" dirty="0"/>
          </a:p>
          <a:p>
            <a:pPr marL="342900" indent="-342900">
              <a:spcAft>
                <a:spcPts val="800"/>
              </a:spcAft>
              <a:buSzPct val="100000"/>
              <a:buFont typeface="+mj-lt"/>
              <a:buAutoNum type="arabicPeriod"/>
            </a:pPr>
            <a:r>
              <a:rPr lang="en-US" sz="1700" dirty="0">
                <a:solidFill>
                  <a:srgbClr val="3E4A5C"/>
                </a:solidFill>
                <a:latin typeface="Calibri" pitchFamily="34" charset="0"/>
                <a:ea typeface="Calibri" pitchFamily="34" charset="-122"/>
                <a:cs typeface="Calibri" pitchFamily="34" charset="-120"/>
              </a:rPr>
              <a:t>Evaluar la significancia de los factores</a:t>
            </a:r>
            <a:endParaRPr lang="en-US" sz="1700" dirty="0"/>
          </a:p>
          <a:p>
            <a:pPr marL="342900" indent="-342900">
              <a:spcAft>
                <a:spcPts val="800"/>
              </a:spcAft>
              <a:buSzPct val="100000"/>
              <a:buFont typeface="+mj-lt"/>
              <a:buAutoNum type="arabicPeriod"/>
            </a:pPr>
            <a:r>
              <a:rPr lang="en-US" sz="1700" dirty="0">
                <a:solidFill>
                  <a:srgbClr val="3E4A5C"/>
                </a:solidFill>
                <a:latin typeface="Calibri" pitchFamily="34" charset="0"/>
                <a:ea typeface="Calibri" pitchFamily="34" charset="-122"/>
                <a:cs typeface="Calibri" pitchFamily="34" charset="-120"/>
              </a:rPr>
              <a:t>Diagnosticar los 6 problemas de la regresión</a:t>
            </a:r>
            <a:endParaRPr lang="en-US" sz="1700" dirty="0"/>
          </a:p>
          <a:p>
            <a:pPr marL="342900" indent="-342900">
              <a:spcAft>
                <a:spcPts val="800"/>
              </a:spcAft>
              <a:buSzPct val="100000"/>
              <a:buFont typeface="+mj-lt"/>
              <a:buAutoNum type="arabicPeriod"/>
            </a:pPr>
            <a:r>
              <a:rPr lang="en-US" sz="1700" dirty="0">
                <a:solidFill>
                  <a:srgbClr val="3E4A5C"/>
                </a:solidFill>
                <a:latin typeface="Calibri" pitchFamily="34" charset="0"/>
                <a:ea typeface="Calibri" pitchFamily="34" charset="-122"/>
                <a:cs typeface="Calibri" pitchFamily="34" charset="-120"/>
              </a:rPr>
              <a:t>Comparar los 12 ajustes con R²</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F"/>
        </a:solidFill>
        <a:effectLst/>
      </p:bgPr>
    </p:bg>
    <p:spTree>
      <p:nvGrpSpPr>
        <p:cNvPr id="1" name=""/>
        <p:cNvGrpSpPr/>
        <p:nvPr/>
      </p:nvGrpSpPr>
      <p:grpSpPr>
        <a:xfrm>
          <a:off x="0" y="0"/>
          <a:ext cx="0" cy="0"/>
          <a:chOff x="0" y="0"/>
          <a:chExt cx="0" cy="0"/>
        </a:xfrm>
      </p:grpSpPr>
      <p:sp>
        <p:nvSpPr>
          <p:cNvPr id="2" name="Text 0"/>
          <p:cNvSpPr txBox="1"/>
          <p:nvPr/>
        </p:nvSpPr>
        <p:spPr>
          <a:xfrm>
            <a:off x="548640" y="6355080"/>
            <a:ext cx="7315200" cy="274320"/>
          </a:xfrm>
          <a:prstGeom prst="rect">
            <a:avLst/>
          </a:prstGeom>
          <a:noFill/>
          <a:ln/>
        </p:spPr>
        <p:txBody>
          <a:bodyPr wrap="square" lIns="0" tIns="0" rIns="0" bIns="0" rtlCol="0" anchor="ctr"/>
          <a:lstStyle/>
          <a:p>
            <a:pPr marL="0" indent="0">
              <a:buNone/>
            </a:pPr>
            <a:r>
              <a:rPr lang="en-US" sz="1100" dirty="0">
                <a:solidFill>
                  <a:srgbClr val="5B6472"/>
                </a:solidFill>
                <a:latin typeface="Calibri" pitchFamily="34" charset="0"/>
                <a:ea typeface="Calibri" pitchFamily="34" charset="-122"/>
                <a:cs typeface="Calibri" pitchFamily="34" charset="-120"/>
              </a:rPr>
              <a:t>Superficie de volatilidad implícita · Análisis de Regresión</a:t>
            </a:r>
            <a:endParaRPr lang="en-US" sz="1100" dirty="0"/>
          </a:p>
        </p:txBody>
      </p:sp>
      <p:sp>
        <p:nvSpPr>
          <p:cNvPr id="3" name="Text 1"/>
          <p:cNvSpPr txBox="1"/>
          <p:nvPr/>
        </p:nvSpPr>
        <p:spPr>
          <a:xfrm>
            <a:off x="10728655" y="6355080"/>
            <a:ext cx="914400" cy="274320"/>
          </a:xfrm>
          <a:prstGeom prst="rect">
            <a:avLst/>
          </a:prstGeom>
          <a:noFill/>
          <a:ln/>
        </p:spPr>
        <p:txBody>
          <a:bodyPr wrap="square" lIns="0" tIns="0" rIns="0" bIns="0" rtlCol="0" anchor="ctr"/>
          <a:lstStyle/>
          <a:p>
            <a:pPr marL="0" indent="0" algn="r">
              <a:buNone/>
            </a:pPr>
            <a:r>
              <a:rPr lang="en-US" sz="1100" dirty="0">
                <a:solidFill>
                  <a:srgbClr val="5B6472"/>
                </a:solidFill>
                <a:latin typeface="Calibri" pitchFamily="34" charset="0"/>
                <a:ea typeface="Calibri" pitchFamily="34" charset="-122"/>
                <a:cs typeface="Calibri" pitchFamily="34" charset="-120"/>
              </a:rPr>
              <a:t>3</a:t>
            </a:r>
            <a:endParaRPr lang="en-US" sz="1100" dirty="0"/>
          </a:p>
        </p:txBody>
      </p:sp>
      <p:sp>
        <p:nvSpPr>
          <p:cNvPr id="4" name="Text 2"/>
          <p:cNvSpPr txBox="1"/>
          <p:nvPr/>
        </p:nvSpPr>
        <p:spPr>
          <a:xfrm>
            <a:off x="548640" y="411480"/>
            <a:ext cx="11094415" cy="731520"/>
          </a:xfrm>
          <a:prstGeom prst="rect">
            <a:avLst/>
          </a:prstGeom>
          <a:noFill/>
          <a:ln/>
        </p:spPr>
        <p:txBody>
          <a:bodyPr wrap="square" lIns="0" tIns="0" rIns="0" bIns="0" rtlCol="0" anchor="t"/>
          <a:lstStyle/>
          <a:p>
            <a:pPr marL="0" indent="0">
              <a:buNone/>
            </a:pPr>
            <a:r>
              <a:rPr lang="en-US" sz="3400" b="1" dirty="0">
                <a:solidFill>
                  <a:srgbClr val="14213D"/>
                </a:solidFill>
                <a:latin typeface="Cambria" pitchFamily="34" charset="0"/>
                <a:ea typeface="Cambria" pitchFamily="34" charset="-122"/>
                <a:cs typeface="Cambria" pitchFamily="34" charset="-120"/>
              </a:rPr>
              <a:t>La volatilidad implícita cambia con el strike</a:t>
            </a:r>
            <a:endParaRPr lang="en-US" sz="3400" dirty="0"/>
          </a:p>
        </p:txBody>
      </p:sp>
      <p:sp>
        <p:nvSpPr>
          <p:cNvPr id="5" name="Text 3"/>
          <p:cNvSpPr txBox="1"/>
          <p:nvPr/>
        </p:nvSpPr>
        <p:spPr>
          <a:xfrm>
            <a:off x="548640" y="1463040"/>
            <a:ext cx="4846320" cy="2560320"/>
          </a:xfrm>
          <a:prstGeom prst="rect">
            <a:avLst/>
          </a:prstGeom>
          <a:noFill/>
          <a:ln/>
        </p:spPr>
        <p:txBody>
          <a:bodyPr wrap="square" lIns="0" tIns="0" rIns="0" bIns="0" rtlCol="0" anchor="t"/>
          <a:lstStyle/>
          <a:p>
            <a:pPr marL="0" indent="0">
              <a:spcAft>
                <a:spcPts val="1400"/>
              </a:spcAft>
              <a:buNone/>
            </a:pPr>
            <a:r>
              <a:rPr lang="en-US" sz="1800" dirty="0">
                <a:solidFill>
                  <a:srgbClr val="3E4A5C"/>
                </a:solidFill>
                <a:latin typeface="Calibri" pitchFamily="34" charset="0"/>
                <a:ea typeface="Calibri" pitchFamily="34" charset="-122"/>
                <a:cs typeface="Calibri" pitchFamily="34" charset="-120"/>
              </a:rPr>
              <a:t>Black–Scholes supone una sola volatilidad por activo. Si fuera cierto, esta gráfica sería una línea horizontal.</a:t>
            </a:r>
            <a:endParaRPr lang="en-US" sz="1800" dirty="0"/>
          </a:p>
          <a:p>
            <a:pPr marL="0" indent="0">
              <a:buNone/>
            </a:pPr>
            <a:r>
              <a:rPr lang="en-US" sz="1800" dirty="0">
                <a:solidFill>
                  <a:srgbClr val="3E4A5C"/>
                </a:solidFill>
                <a:latin typeface="Calibri" pitchFamily="34" charset="0"/>
                <a:ea typeface="Calibri" pitchFamily="34" charset="-122"/>
                <a:cs typeface="Calibri" pitchFamily="34" charset="-120"/>
              </a:rPr>
              <a:t>En el mercado aparece una curva, la </a:t>
            </a:r>
            <a:r>
              <a:rPr lang="en-US" sz="1800" b="1" dirty="0">
                <a:solidFill>
                  <a:srgbClr val="3E4A5C"/>
                </a:solidFill>
                <a:latin typeface="Calibri" pitchFamily="34" charset="0"/>
                <a:ea typeface="Calibri" pitchFamily="34" charset="-122"/>
                <a:cs typeface="Calibri" pitchFamily="34" charset="-120"/>
              </a:rPr>
              <a:t>sonrisa</a:t>
            </a:r>
            <a:r>
              <a:rPr lang="en-US" sz="1800" dirty="0">
                <a:solidFill>
                  <a:srgbClr val="3E4A5C"/>
                </a:solidFill>
                <a:latin typeface="Calibri" pitchFamily="34" charset="0"/>
                <a:ea typeface="Calibri" pitchFamily="34" charset="-122"/>
                <a:cs typeface="Calibri" pitchFamily="34" charset="-120"/>
              </a:rPr>
              <a:t>, más alta del lado de los strikes bajos: el </a:t>
            </a:r>
            <a:r>
              <a:rPr lang="en-US" sz="1800" b="1" dirty="0">
                <a:solidFill>
                  <a:srgbClr val="3E4A5C"/>
                </a:solidFill>
                <a:latin typeface="Calibri" pitchFamily="34" charset="0"/>
                <a:ea typeface="Calibri" pitchFamily="34" charset="-122"/>
                <a:cs typeface="Calibri" pitchFamily="34" charset="-120"/>
              </a:rPr>
              <a:t>skew</a:t>
            </a:r>
            <a:r>
              <a:rPr lang="en-US" sz="1800" dirty="0">
                <a:solidFill>
                  <a:srgbClr val="3E4A5C"/>
                </a:solidFill>
                <a:latin typeface="Calibri" pitchFamily="34" charset="0"/>
                <a:ea typeface="Calibri" pitchFamily="34" charset="-122"/>
                <a:cs typeface="Calibri" pitchFamily="34" charset="-120"/>
              </a:rPr>
              <a:t>. Y calls y puts no coinciden en el mismo strike.</a:t>
            </a:r>
            <a:endParaRPr lang="en-US" sz="1800" dirty="0"/>
          </a:p>
        </p:txBody>
      </p:sp>
      <p:sp>
        <p:nvSpPr>
          <p:cNvPr id="6" name="Shape 4"/>
          <p:cNvSpPr/>
          <p:nvPr/>
        </p:nvSpPr>
        <p:spPr>
          <a:xfrm>
            <a:off x="548640" y="4206240"/>
            <a:ext cx="4846320" cy="1371600"/>
          </a:xfrm>
          <a:prstGeom prst="roundRect">
            <a:avLst>
              <a:gd name="adj" fmla="val 8000"/>
            </a:avLst>
          </a:prstGeom>
          <a:solidFill>
            <a:srgbClr val="ECE7DC"/>
          </a:solidFill>
          <a:ln w="12700">
            <a:solidFill>
              <a:srgbClr val="ECE7DC"/>
            </a:solidFill>
            <a:prstDash val="solid"/>
          </a:ln>
        </p:spPr>
        <p:txBody>
          <a:bodyPr/>
          <a:lstStyle/>
          <a:p>
            <a:endParaRPr lang="es-MX"/>
          </a:p>
        </p:txBody>
      </p:sp>
      <p:sp>
        <p:nvSpPr>
          <p:cNvPr id="7" name="Text 5"/>
          <p:cNvSpPr txBox="1"/>
          <p:nvPr/>
        </p:nvSpPr>
        <p:spPr>
          <a:xfrm>
            <a:off x="822960" y="4206240"/>
            <a:ext cx="4297680" cy="1371600"/>
          </a:xfrm>
          <a:prstGeom prst="rect">
            <a:avLst/>
          </a:prstGeom>
          <a:noFill/>
          <a:ln/>
        </p:spPr>
        <p:txBody>
          <a:bodyPr wrap="square" lIns="0" tIns="0" rIns="0" bIns="0" rtlCol="0" anchor="ctr"/>
          <a:lstStyle/>
          <a:p>
            <a:pPr marL="0" indent="0">
              <a:buNone/>
            </a:pPr>
            <a:r>
              <a:rPr lang="en-US" sz="1800" dirty="0">
                <a:solidFill>
                  <a:srgbClr val="14213D"/>
                </a:solidFill>
                <a:latin typeface="Calibri" pitchFamily="34" charset="0"/>
                <a:ea typeface="Calibri" pitchFamily="34" charset="-122"/>
                <a:cs typeface="Calibri" pitchFamily="34" charset="-120"/>
              </a:rPr>
              <a:t>Queremos explicar </a:t>
            </a:r>
            <a:r>
              <a:rPr lang="en-US" sz="1800" b="1" dirty="0">
                <a:solidFill>
                  <a:srgbClr val="14213D"/>
                </a:solidFill>
                <a:latin typeface="Calibri" pitchFamily="34" charset="0"/>
                <a:ea typeface="Calibri" pitchFamily="34" charset="-122"/>
                <a:cs typeface="Calibri" pitchFamily="34" charset="-120"/>
              </a:rPr>
              <a:t>log(VI)</a:t>
            </a:r>
            <a:r>
              <a:rPr lang="en-US" sz="1800" dirty="0">
                <a:solidFill>
                  <a:srgbClr val="14213D"/>
                </a:solidFill>
                <a:latin typeface="Calibri" pitchFamily="34" charset="0"/>
                <a:ea typeface="Calibri" pitchFamily="34" charset="-122"/>
                <a:cs typeface="Calibri" pitchFamily="34" charset="-120"/>
              </a:rPr>
              <a:t> con moneyness, plazo, tipo de opción, subyacente y liquidez.</a:t>
            </a:r>
            <a:endParaRPr lang="en-US" sz="1800" dirty="0"/>
          </a:p>
        </p:txBody>
      </p:sp>
      <p:pic>
        <p:nvPicPr>
          <p:cNvPr id="8" name="Image 0" descr="Volatilidad implícita contra log-moneyness para calls y puts de SPY a 19 días: forma de sonrisa inclinada, más alta en strikes bajos"/>
          <p:cNvPicPr>
            <a:picLocks noChangeAspect="1"/>
          </p:cNvPicPr>
          <p:nvPr/>
        </p:nvPicPr>
        <p:blipFill>
          <a:blip r:embed="rId3"/>
          <a:stretch>
            <a:fillRect/>
          </a:stretch>
        </p:blipFill>
        <p:spPr>
          <a:xfrm>
            <a:off x="5882335" y="1325880"/>
            <a:ext cx="5760720" cy="4147718"/>
          </a:xfrm>
          <a:prstGeom prst="rect">
            <a:avLst/>
          </a:prstGeom>
        </p:spPr>
      </p:pic>
      <p:sp>
        <p:nvSpPr>
          <p:cNvPr id="9" name="Text 6"/>
          <p:cNvSpPr txBox="1"/>
          <p:nvPr/>
        </p:nvSpPr>
        <p:spPr>
          <a:xfrm>
            <a:off x="5882335" y="5519318"/>
            <a:ext cx="5760720" cy="274320"/>
          </a:xfrm>
          <a:prstGeom prst="rect">
            <a:avLst/>
          </a:prstGeom>
          <a:noFill/>
          <a:ln/>
        </p:spPr>
        <p:txBody>
          <a:bodyPr wrap="square" lIns="0" tIns="0" rIns="0" bIns="0" rtlCol="0" anchor="ctr"/>
          <a:lstStyle/>
          <a:p>
            <a:pPr marL="0" indent="0">
              <a:buNone/>
            </a:pPr>
            <a:r>
              <a:rPr lang="en-US" sz="1100" dirty="0">
                <a:solidFill>
                  <a:srgbClr val="5B6472"/>
                </a:solidFill>
                <a:latin typeface="Calibri" pitchFamily="34" charset="0"/>
                <a:ea typeface="Calibri" pitchFamily="34" charset="-122"/>
                <a:cs typeface="Calibri" pitchFamily="34" charset="-120"/>
              </a:rPr>
              <a:t>SPY, vencimiento a 19 días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F"/>
        </a:solidFill>
        <a:effectLst/>
      </p:bgPr>
    </p:bg>
    <p:spTree>
      <p:nvGrpSpPr>
        <p:cNvPr id="1" name=""/>
        <p:cNvGrpSpPr/>
        <p:nvPr/>
      </p:nvGrpSpPr>
      <p:grpSpPr>
        <a:xfrm>
          <a:off x="0" y="0"/>
          <a:ext cx="0" cy="0"/>
          <a:chOff x="0" y="0"/>
          <a:chExt cx="0" cy="0"/>
        </a:xfrm>
      </p:grpSpPr>
      <p:sp>
        <p:nvSpPr>
          <p:cNvPr id="2" name="Text 0"/>
          <p:cNvSpPr txBox="1"/>
          <p:nvPr/>
        </p:nvSpPr>
        <p:spPr>
          <a:xfrm>
            <a:off x="548640" y="6355080"/>
            <a:ext cx="7315200" cy="274320"/>
          </a:xfrm>
          <a:prstGeom prst="rect">
            <a:avLst/>
          </a:prstGeom>
          <a:noFill/>
          <a:ln/>
        </p:spPr>
        <p:txBody>
          <a:bodyPr wrap="square" lIns="0" tIns="0" rIns="0" bIns="0" rtlCol="0" anchor="ctr"/>
          <a:lstStyle/>
          <a:p>
            <a:pPr marL="0" indent="0">
              <a:buNone/>
            </a:pPr>
            <a:r>
              <a:rPr lang="en-US" sz="1100" dirty="0">
                <a:solidFill>
                  <a:srgbClr val="5B6472"/>
                </a:solidFill>
                <a:latin typeface="Calibri" pitchFamily="34" charset="0"/>
                <a:ea typeface="Calibri" pitchFamily="34" charset="-122"/>
                <a:cs typeface="Calibri" pitchFamily="34" charset="-120"/>
              </a:rPr>
              <a:t>Superficie de volatilidad implícita · Análisis de Regresión</a:t>
            </a:r>
            <a:endParaRPr lang="en-US" sz="1100" dirty="0"/>
          </a:p>
        </p:txBody>
      </p:sp>
      <p:sp>
        <p:nvSpPr>
          <p:cNvPr id="3" name="Text 1"/>
          <p:cNvSpPr txBox="1"/>
          <p:nvPr/>
        </p:nvSpPr>
        <p:spPr>
          <a:xfrm>
            <a:off x="10728655" y="6355080"/>
            <a:ext cx="914400" cy="274320"/>
          </a:xfrm>
          <a:prstGeom prst="rect">
            <a:avLst/>
          </a:prstGeom>
          <a:noFill/>
          <a:ln/>
        </p:spPr>
        <p:txBody>
          <a:bodyPr wrap="square" lIns="0" tIns="0" rIns="0" bIns="0" rtlCol="0" anchor="ctr"/>
          <a:lstStyle/>
          <a:p>
            <a:pPr marL="0" indent="0" algn="r">
              <a:buNone/>
            </a:pPr>
            <a:r>
              <a:rPr lang="en-US" sz="1100" dirty="0">
                <a:solidFill>
                  <a:srgbClr val="5B6472"/>
                </a:solidFill>
                <a:latin typeface="Calibri" pitchFamily="34" charset="0"/>
                <a:ea typeface="Calibri" pitchFamily="34" charset="-122"/>
                <a:cs typeface="Calibri" pitchFamily="34" charset="-120"/>
              </a:rPr>
              <a:t>4</a:t>
            </a:r>
            <a:endParaRPr lang="en-US" sz="1100" dirty="0"/>
          </a:p>
        </p:txBody>
      </p:sp>
      <p:sp>
        <p:nvSpPr>
          <p:cNvPr id="4" name="Text 2"/>
          <p:cNvSpPr txBox="1"/>
          <p:nvPr/>
        </p:nvSpPr>
        <p:spPr>
          <a:xfrm>
            <a:off x="548640" y="411480"/>
            <a:ext cx="11094415" cy="731520"/>
          </a:xfrm>
          <a:prstGeom prst="rect">
            <a:avLst/>
          </a:prstGeom>
          <a:noFill/>
          <a:ln/>
        </p:spPr>
        <p:txBody>
          <a:bodyPr wrap="square" lIns="0" tIns="0" rIns="0" bIns="0" rtlCol="0" anchor="t"/>
          <a:lstStyle/>
          <a:p>
            <a:pPr marL="0" indent="0">
              <a:buNone/>
            </a:pPr>
            <a:r>
              <a:rPr lang="en-US" sz="3400" b="1" dirty="0">
                <a:solidFill>
                  <a:srgbClr val="14213D"/>
                </a:solidFill>
                <a:latin typeface="Cambria" pitchFamily="34" charset="0"/>
                <a:ea typeface="Cambria" pitchFamily="34" charset="-122"/>
                <a:cs typeface="Cambria" pitchFamily="34" charset="-120"/>
              </a:rPr>
              <a:t>Una fotografía del mercado de opciones</a:t>
            </a:r>
            <a:endParaRPr lang="en-US" sz="3400" dirty="0"/>
          </a:p>
        </p:txBody>
      </p:sp>
      <p:sp>
        <p:nvSpPr>
          <p:cNvPr id="5" name="Shape 3"/>
          <p:cNvSpPr/>
          <p:nvPr/>
        </p:nvSpPr>
        <p:spPr>
          <a:xfrm>
            <a:off x="548640" y="1417320"/>
            <a:ext cx="2567864" cy="1920240"/>
          </a:xfrm>
          <a:prstGeom prst="roundRect">
            <a:avLst>
              <a:gd name="adj" fmla="val 5714"/>
            </a:avLst>
          </a:prstGeom>
          <a:solidFill>
            <a:srgbClr val="ECE7DC"/>
          </a:solidFill>
          <a:ln w="12700">
            <a:solidFill>
              <a:srgbClr val="ECE7DC"/>
            </a:solidFill>
            <a:prstDash val="solid"/>
          </a:ln>
        </p:spPr>
        <p:txBody>
          <a:bodyPr/>
          <a:lstStyle/>
          <a:p>
            <a:endParaRPr lang="es-MX"/>
          </a:p>
        </p:txBody>
      </p:sp>
      <p:sp>
        <p:nvSpPr>
          <p:cNvPr id="6" name="Text 4"/>
          <p:cNvSpPr txBox="1"/>
          <p:nvPr/>
        </p:nvSpPr>
        <p:spPr>
          <a:xfrm>
            <a:off x="822960" y="1645920"/>
            <a:ext cx="2019224" cy="822960"/>
          </a:xfrm>
          <a:prstGeom prst="rect">
            <a:avLst/>
          </a:prstGeom>
          <a:noFill/>
          <a:ln/>
        </p:spPr>
        <p:txBody>
          <a:bodyPr wrap="square" lIns="0" tIns="0" rIns="0" bIns="0" rtlCol="0" anchor="ctr"/>
          <a:lstStyle/>
          <a:p>
            <a:pPr marL="0" indent="0">
              <a:buNone/>
            </a:pPr>
            <a:r>
              <a:rPr lang="en-US" sz="4400" b="1" dirty="0">
                <a:solidFill>
                  <a:srgbClr val="1F7A8C"/>
                </a:solidFill>
                <a:latin typeface="Cambria" pitchFamily="34" charset="0"/>
                <a:ea typeface="Cambria" pitchFamily="34" charset="-122"/>
                <a:cs typeface="Cambria" pitchFamily="34" charset="-120"/>
              </a:rPr>
              <a:t>8,953</a:t>
            </a:r>
            <a:endParaRPr lang="en-US" sz="4400" dirty="0"/>
          </a:p>
        </p:txBody>
      </p:sp>
      <p:sp>
        <p:nvSpPr>
          <p:cNvPr id="7" name="Text 5"/>
          <p:cNvSpPr txBox="1"/>
          <p:nvPr/>
        </p:nvSpPr>
        <p:spPr>
          <a:xfrm>
            <a:off x="822960" y="2468880"/>
            <a:ext cx="2019224" cy="777240"/>
          </a:xfrm>
          <a:prstGeom prst="rect">
            <a:avLst/>
          </a:prstGeom>
          <a:noFill/>
          <a:ln/>
        </p:spPr>
        <p:txBody>
          <a:bodyPr wrap="square" lIns="0" tIns="0" rIns="0" bIns="0" rtlCol="0" anchor="t"/>
          <a:lstStyle/>
          <a:p>
            <a:pPr marL="0" indent="0">
              <a:buNone/>
            </a:pPr>
            <a:r>
              <a:rPr lang="en-US" sz="1400" dirty="0">
                <a:solidFill>
                  <a:srgbClr val="3E4A5C"/>
                </a:solidFill>
                <a:latin typeface="Calibri" pitchFamily="34" charset="0"/>
                <a:ea typeface="Calibri" pitchFamily="34" charset="-122"/>
                <a:cs typeface="Calibri" pitchFamily="34" charset="-120"/>
              </a:rPr>
              <a:t>contratos descargados</a:t>
            </a:r>
            <a:endParaRPr lang="en-US" sz="1400" dirty="0"/>
          </a:p>
        </p:txBody>
      </p:sp>
      <p:sp>
        <p:nvSpPr>
          <p:cNvPr id="8" name="Shape 6"/>
          <p:cNvSpPr/>
          <p:nvPr/>
        </p:nvSpPr>
        <p:spPr>
          <a:xfrm>
            <a:off x="3390824" y="1417320"/>
            <a:ext cx="2567864" cy="1920240"/>
          </a:xfrm>
          <a:prstGeom prst="roundRect">
            <a:avLst>
              <a:gd name="adj" fmla="val 5714"/>
            </a:avLst>
          </a:prstGeom>
          <a:solidFill>
            <a:srgbClr val="ECE7DC"/>
          </a:solidFill>
          <a:ln w="12700">
            <a:solidFill>
              <a:srgbClr val="ECE7DC"/>
            </a:solidFill>
            <a:prstDash val="solid"/>
          </a:ln>
        </p:spPr>
        <p:txBody>
          <a:bodyPr/>
          <a:lstStyle/>
          <a:p>
            <a:endParaRPr lang="es-MX"/>
          </a:p>
        </p:txBody>
      </p:sp>
      <p:sp>
        <p:nvSpPr>
          <p:cNvPr id="9" name="Text 7"/>
          <p:cNvSpPr txBox="1"/>
          <p:nvPr/>
        </p:nvSpPr>
        <p:spPr>
          <a:xfrm>
            <a:off x="3665144" y="1645920"/>
            <a:ext cx="2019224" cy="822960"/>
          </a:xfrm>
          <a:prstGeom prst="rect">
            <a:avLst/>
          </a:prstGeom>
          <a:noFill/>
          <a:ln/>
        </p:spPr>
        <p:txBody>
          <a:bodyPr wrap="square" lIns="0" tIns="0" rIns="0" bIns="0" rtlCol="0" anchor="ctr"/>
          <a:lstStyle/>
          <a:p>
            <a:pPr marL="0" indent="0">
              <a:buNone/>
            </a:pPr>
            <a:r>
              <a:rPr lang="en-US" sz="4400" b="1" dirty="0">
                <a:solidFill>
                  <a:srgbClr val="1F7A8C"/>
                </a:solidFill>
                <a:latin typeface="Cambria" pitchFamily="34" charset="0"/>
                <a:ea typeface="Cambria" pitchFamily="34" charset="-122"/>
                <a:cs typeface="Cambria" pitchFamily="34" charset="-120"/>
              </a:rPr>
              <a:t>4,710</a:t>
            </a:r>
            <a:endParaRPr lang="en-US" sz="4400" dirty="0"/>
          </a:p>
        </p:txBody>
      </p:sp>
      <p:sp>
        <p:nvSpPr>
          <p:cNvPr id="10" name="Text 8"/>
          <p:cNvSpPr txBox="1"/>
          <p:nvPr/>
        </p:nvSpPr>
        <p:spPr>
          <a:xfrm>
            <a:off x="3665144" y="2468880"/>
            <a:ext cx="2019224" cy="777240"/>
          </a:xfrm>
          <a:prstGeom prst="rect">
            <a:avLst/>
          </a:prstGeom>
          <a:noFill/>
          <a:ln/>
        </p:spPr>
        <p:txBody>
          <a:bodyPr wrap="square" lIns="0" tIns="0" rIns="0" bIns="0" rtlCol="0" anchor="t"/>
          <a:lstStyle/>
          <a:p>
            <a:pPr marL="0" indent="0">
              <a:buNone/>
            </a:pPr>
            <a:r>
              <a:rPr lang="en-US" sz="1400" dirty="0">
                <a:solidFill>
                  <a:srgbClr val="3E4A5C"/>
                </a:solidFill>
                <a:latin typeface="Calibri" pitchFamily="34" charset="0"/>
                <a:ea typeface="Calibri" pitchFamily="34" charset="-122"/>
                <a:cs typeface="Calibri" pitchFamily="34" charset="-120"/>
              </a:rPr>
              <a:t>contratos después de la limpieza</a:t>
            </a:r>
            <a:endParaRPr lang="en-US" sz="1400" dirty="0"/>
          </a:p>
        </p:txBody>
      </p:sp>
      <p:sp>
        <p:nvSpPr>
          <p:cNvPr id="11" name="Shape 9"/>
          <p:cNvSpPr/>
          <p:nvPr/>
        </p:nvSpPr>
        <p:spPr>
          <a:xfrm>
            <a:off x="6233008" y="1417320"/>
            <a:ext cx="2567864" cy="1920240"/>
          </a:xfrm>
          <a:prstGeom prst="roundRect">
            <a:avLst>
              <a:gd name="adj" fmla="val 5714"/>
            </a:avLst>
          </a:prstGeom>
          <a:solidFill>
            <a:srgbClr val="ECE7DC"/>
          </a:solidFill>
          <a:ln w="12700">
            <a:solidFill>
              <a:srgbClr val="ECE7DC"/>
            </a:solidFill>
            <a:prstDash val="solid"/>
          </a:ln>
        </p:spPr>
        <p:txBody>
          <a:bodyPr/>
          <a:lstStyle/>
          <a:p>
            <a:endParaRPr lang="es-MX"/>
          </a:p>
        </p:txBody>
      </p:sp>
      <p:sp>
        <p:nvSpPr>
          <p:cNvPr id="12" name="Text 10"/>
          <p:cNvSpPr txBox="1"/>
          <p:nvPr/>
        </p:nvSpPr>
        <p:spPr>
          <a:xfrm>
            <a:off x="6507328" y="1645920"/>
            <a:ext cx="2019224" cy="822960"/>
          </a:xfrm>
          <a:prstGeom prst="rect">
            <a:avLst/>
          </a:prstGeom>
          <a:noFill/>
          <a:ln/>
        </p:spPr>
        <p:txBody>
          <a:bodyPr wrap="square" lIns="0" tIns="0" rIns="0" bIns="0" rtlCol="0" anchor="ctr"/>
          <a:lstStyle/>
          <a:p>
            <a:pPr marL="0" indent="0">
              <a:buNone/>
            </a:pPr>
            <a:r>
              <a:rPr lang="en-US" sz="4400" b="1" dirty="0">
                <a:solidFill>
                  <a:srgbClr val="1F7A8C"/>
                </a:solidFill>
                <a:latin typeface="Cambria" pitchFamily="34" charset="0"/>
                <a:ea typeface="Cambria" pitchFamily="34" charset="-122"/>
                <a:cs typeface="Cambria" pitchFamily="34" charset="-120"/>
              </a:rPr>
              <a:t>6</a:t>
            </a:r>
            <a:endParaRPr lang="en-US" sz="4400" dirty="0"/>
          </a:p>
        </p:txBody>
      </p:sp>
      <p:sp>
        <p:nvSpPr>
          <p:cNvPr id="13" name="Text 11"/>
          <p:cNvSpPr txBox="1"/>
          <p:nvPr/>
        </p:nvSpPr>
        <p:spPr>
          <a:xfrm>
            <a:off x="6507328" y="2468880"/>
            <a:ext cx="2019224" cy="777240"/>
          </a:xfrm>
          <a:prstGeom prst="rect">
            <a:avLst/>
          </a:prstGeom>
          <a:noFill/>
          <a:ln/>
        </p:spPr>
        <p:txBody>
          <a:bodyPr wrap="square" lIns="0" tIns="0" rIns="0" bIns="0" rtlCol="0" anchor="t"/>
          <a:lstStyle/>
          <a:p>
            <a:pPr marL="0" indent="0">
              <a:buNone/>
            </a:pPr>
            <a:r>
              <a:rPr lang="en-US" sz="1400" dirty="0">
                <a:solidFill>
                  <a:srgbClr val="3E4A5C"/>
                </a:solidFill>
                <a:latin typeface="Calibri" pitchFamily="34" charset="0"/>
                <a:ea typeface="Calibri" pitchFamily="34" charset="-122"/>
                <a:cs typeface="Calibri" pitchFamily="34" charset="-120"/>
              </a:rPr>
              <a:t>subyacentes: SPY, AAPL, MSFT, NVDA, TSLA, AMZN</a:t>
            </a:r>
            <a:endParaRPr lang="en-US" sz="1400" dirty="0"/>
          </a:p>
        </p:txBody>
      </p:sp>
      <p:sp>
        <p:nvSpPr>
          <p:cNvPr id="14" name="Shape 12"/>
          <p:cNvSpPr/>
          <p:nvPr/>
        </p:nvSpPr>
        <p:spPr>
          <a:xfrm>
            <a:off x="9075191" y="1417320"/>
            <a:ext cx="2567864" cy="1920240"/>
          </a:xfrm>
          <a:prstGeom prst="roundRect">
            <a:avLst>
              <a:gd name="adj" fmla="val 5714"/>
            </a:avLst>
          </a:prstGeom>
          <a:solidFill>
            <a:srgbClr val="ECE7DC"/>
          </a:solidFill>
          <a:ln w="12700">
            <a:solidFill>
              <a:srgbClr val="ECE7DC"/>
            </a:solidFill>
            <a:prstDash val="solid"/>
          </a:ln>
        </p:spPr>
        <p:txBody>
          <a:bodyPr/>
          <a:lstStyle/>
          <a:p>
            <a:endParaRPr lang="es-MX"/>
          </a:p>
        </p:txBody>
      </p:sp>
      <p:sp>
        <p:nvSpPr>
          <p:cNvPr id="15" name="Text 13"/>
          <p:cNvSpPr txBox="1"/>
          <p:nvPr/>
        </p:nvSpPr>
        <p:spPr>
          <a:xfrm>
            <a:off x="9349511" y="1645920"/>
            <a:ext cx="2019224" cy="822960"/>
          </a:xfrm>
          <a:prstGeom prst="rect">
            <a:avLst/>
          </a:prstGeom>
          <a:noFill/>
          <a:ln/>
        </p:spPr>
        <p:txBody>
          <a:bodyPr wrap="square" lIns="0" tIns="0" rIns="0" bIns="0" rtlCol="0" anchor="ctr"/>
          <a:lstStyle/>
          <a:p>
            <a:pPr marL="0" indent="0">
              <a:buNone/>
            </a:pPr>
            <a:r>
              <a:rPr lang="en-US" sz="4400" b="1" dirty="0">
                <a:solidFill>
                  <a:srgbClr val="1F7A8C"/>
                </a:solidFill>
                <a:latin typeface="Cambria" pitchFamily="34" charset="0"/>
                <a:ea typeface="Cambria" pitchFamily="34" charset="-122"/>
                <a:cs typeface="Cambria" pitchFamily="34" charset="-120"/>
              </a:rPr>
              <a:t>8</a:t>
            </a:r>
            <a:endParaRPr lang="en-US" sz="4400" dirty="0"/>
          </a:p>
        </p:txBody>
      </p:sp>
      <p:sp>
        <p:nvSpPr>
          <p:cNvPr id="16" name="Text 14"/>
          <p:cNvSpPr txBox="1"/>
          <p:nvPr/>
        </p:nvSpPr>
        <p:spPr>
          <a:xfrm>
            <a:off x="9349511" y="2468880"/>
            <a:ext cx="2019224" cy="777240"/>
          </a:xfrm>
          <a:prstGeom prst="rect">
            <a:avLst/>
          </a:prstGeom>
          <a:noFill/>
          <a:ln/>
        </p:spPr>
        <p:txBody>
          <a:bodyPr wrap="square" lIns="0" tIns="0" rIns="0" bIns="0" rtlCol="0" anchor="t"/>
          <a:lstStyle/>
          <a:p>
            <a:pPr marL="0" indent="0">
              <a:buNone/>
            </a:pPr>
            <a:r>
              <a:rPr lang="en-US" sz="1400" dirty="0">
                <a:solidFill>
                  <a:srgbClr val="3E4A5C"/>
                </a:solidFill>
                <a:latin typeface="Calibri" pitchFamily="34" charset="0"/>
                <a:ea typeface="Calibri" pitchFamily="34" charset="-122"/>
                <a:cs typeface="Calibri" pitchFamily="34" charset="-120"/>
              </a:rPr>
              <a:t>vencimientos por subyacente, de 1 semana a 1.5 años</a:t>
            </a:r>
            <a:endParaRPr lang="en-US" sz="1400" dirty="0"/>
          </a:p>
        </p:txBody>
      </p:sp>
      <p:sp>
        <p:nvSpPr>
          <p:cNvPr id="17" name="Text 15"/>
          <p:cNvSpPr txBox="1"/>
          <p:nvPr/>
        </p:nvSpPr>
        <p:spPr>
          <a:xfrm>
            <a:off x="548640" y="3611880"/>
            <a:ext cx="11094415" cy="731520"/>
          </a:xfrm>
          <a:prstGeom prst="rect">
            <a:avLst/>
          </a:prstGeom>
          <a:noFill/>
          <a:ln/>
        </p:spPr>
        <p:txBody>
          <a:bodyPr wrap="square" lIns="0" tIns="0" rIns="0" bIns="0" rtlCol="0" anchor="t"/>
          <a:lstStyle/>
          <a:p>
            <a:pPr marL="0" indent="0">
              <a:buNone/>
            </a:pPr>
            <a:r>
              <a:rPr lang="en-US" sz="1700" dirty="0">
                <a:solidFill>
                  <a:srgbClr val="3E4A5C"/>
                </a:solidFill>
                <a:latin typeface="Calibri" pitchFamily="34" charset="0"/>
                <a:ea typeface="Calibri" pitchFamily="34" charset="-122"/>
                <a:cs typeface="Calibri" pitchFamily="34" charset="-120"/>
              </a:rPr>
              <a:t>Fuente: Yahoo Finance vía yfinance, septiembre de 2026. Cada fila es un contrato: subyacente + tipo + vencimiento + strike. Es un corte transversal, no una serie de tiempo.</a:t>
            </a:r>
            <a:endParaRPr lang="en-US" sz="1700" dirty="0"/>
          </a:p>
        </p:txBody>
      </p:sp>
      <p:sp>
        <p:nvSpPr>
          <p:cNvPr id="18" name="Text 16"/>
          <p:cNvSpPr txBox="1"/>
          <p:nvPr/>
        </p:nvSpPr>
        <p:spPr>
          <a:xfrm>
            <a:off x="548640" y="4526280"/>
            <a:ext cx="11094415" cy="274320"/>
          </a:xfrm>
          <a:prstGeom prst="rect">
            <a:avLst/>
          </a:prstGeom>
          <a:noFill/>
          <a:ln/>
        </p:spPr>
        <p:txBody>
          <a:bodyPr wrap="square" lIns="0" tIns="0" rIns="0" bIns="0" rtlCol="0" anchor="ctr"/>
          <a:lstStyle/>
          <a:p>
            <a:pPr marL="0" indent="0">
              <a:buNone/>
            </a:pPr>
            <a:r>
              <a:rPr lang="en-US" sz="1200" b="1" kern="0" spc="200" dirty="0">
                <a:solidFill>
                  <a:srgbClr val="1F7A8C"/>
                </a:solidFill>
                <a:latin typeface="Calibri" pitchFamily="34" charset="0"/>
                <a:ea typeface="Calibri" pitchFamily="34" charset="-122"/>
                <a:cs typeface="Calibri" pitchFamily="34" charset="-120"/>
              </a:rPr>
              <a:t>LIMPIEZA: 47% DE LOS CONTRATOS NO TENÍA PRECIO DE MERCADO ÚTIL</a:t>
            </a:r>
            <a:endParaRPr lang="en-US" sz="1200" dirty="0"/>
          </a:p>
        </p:txBody>
      </p:sp>
      <p:sp>
        <p:nvSpPr>
          <p:cNvPr id="19" name="Shape 17"/>
          <p:cNvSpPr/>
          <p:nvPr/>
        </p:nvSpPr>
        <p:spPr>
          <a:xfrm>
            <a:off x="548640" y="4937760"/>
            <a:ext cx="1371600" cy="502920"/>
          </a:xfrm>
          <a:prstGeom prst="roundRect">
            <a:avLst>
              <a:gd name="adj" fmla="val 49091"/>
            </a:avLst>
          </a:prstGeom>
          <a:solidFill>
            <a:srgbClr val="FFFFFF"/>
          </a:solidFill>
          <a:ln w="12700">
            <a:solidFill>
              <a:srgbClr val="CFC8B8"/>
            </a:solidFill>
            <a:prstDash val="solid"/>
          </a:ln>
        </p:spPr>
        <p:txBody>
          <a:bodyPr/>
          <a:lstStyle/>
          <a:p>
            <a:endParaRPr lang="es-MX"/>
          </a:p>
        </p:txBody>
      </p:sp>
      <p:sp>
        <p:nvSpPr>
          <p:cNvPr id="20" name="Text 18"/>
          <p:cNvSpPr txBox="1"/>
          <p:nvPr/>
        </p:nvSpPr>
        <p:spPr>
          <a:xfrm>
            <a:off x="548640" y="4937760"/>
            <a:ext cx="1371600" cy="502920"/>
          </a:xfrm>
          <a:prstGeom prst="rect">
            <a:avLst/>
          </a:prstGeom>
          <a:noFill/>
          <a:ln/>
        </p:spPr>
        <p:txBody>
          <a:bodyPr wrap="square" lIns="0" tIns="0" rIns="0" bIns="0" rtlCol="0" anchor="ctr"/>
          <a:lstStyle/>
          <a:p>
            <a:pPr marL="0" indent="0" algn="ctr">
              <a:buNone/>
            </a:pPr>
            <a:r>
              <a:rPr lang="en-US" sz="1500" dirty="0">
                <a:solidFill>
                  <a:srgbClr val="14213D"/>
                </a:solidFill>
                <a:latin typeface="Calibri" pitchFamily="34" charset="0"/>
                <a:ea typeface="Calibri" pitchFamily="34" charset="-122"/>
                <a:cs typeface="Calibri" pitchFamily="34" charset="-120"/>
              </a:rPr>
              <a:t>bid &gt; 0.05</a:t>
            </a:r>
            <a:endParaRPr lang="en-US" sz="1500" dirty="0"/>
          </a:p>
        </p:txBody>
      </p:sp>
      <p:sp>
        <p:nvSpPr>
          <p:cNvPr id="21" name="Shape 19"/>
          <p:cNvSpPr/>
          <p:nvPr/>
        </p:nvSpPr>
        <p:spPr>
          <a:xfrm>
            <a:off x="2103120" y="4937760"/>
            <a:ext cx="1687068" cy="502920"/>
          </a:xfrm>
          <a:prstGeom prst="roundRect">
            <a:avLst>
              <a:gd name="adj" fmla="val 49091"/>
            </a:avLst>
          </a:prstGeom>
          <a:solidFill>
            <a:srgbClr val="FFFFFF"/>
          </a:solidFill>
          <a:ln w="12700">
            <a:solidFill>
              <a:srgbClr val="CFC8B8"/>
            </a:solidFill>
            <a:prstDash val="solid"/>
          </a:ln>
        </p:spPr>
        <p:txBody>
          <a:bodyPr/>
          <a:lstStyle/>
          <a:p>
            <a:endParaRPr lang="es-MX"/>
          </a:p>
        </p:txBody>
      </p:sp>
      <p:sp>
        <p:nvSpPr>
          <p:cNvPr id="22" name="Text 20"/>
          <p:cNvSpPr txBox="1"/>
          <p:nvPr/>
        </p:nvSpPr>
        <p:spPr>
          <a:xfrm>
            <a:off x="2103120" y="4937760"/>
            <a:ext cx="1687068" cy="502920"/>
          </a:xfrm>
          <a:prstGeom prst="rect">
            <a:avLst/>
          </a:prstGeom>
          <a:noFill/>
          <a:ln/>
        </p:spPr>
        <p:txBody>
          <a:bodyPr wrap="square" lIns="0" tIns="0" rIns="0" bIns="0" rtlCol="0" anchor="ctr"/>
          <a:lstStyle/>
          <a:p>
            <a:pPr marL="0" indent="0" algn="ctr">
              <a:buNone/>
            </a:pPr>
            <a:r>
              <a:rPr lang="en-US" sz="1500" dirty="0">
                <a:solidFill>
                  <a:srgbClr val="14213D"/>
                </a:solidFill>
                <a:latin typeface="Calibri" pitchFamily="34" charset="0"/>
                <a:ea typeface="Calibri" pitchFamily="34" charset="-122"/>
                <a:cs typeface="Calibri" pitchFamily="34" charset="-120"/>
              </a:rPr>
              <a:t>0.01 &lt; VI &lt; 3</a:t>
            </a:r>
            <a:endParaRPr lang="en-US" sz="1500" dirty="0"/>
          </a:p>
        </p:txBody>
      </p:sp>
      <p:sp>
        <p:nvSpPr>
          <p:cNvPr id="23" name="Shape 21"/>
          <p:cNvSpPr/>
          <p:nvPr/>
        </p:nvSpPr>
        <p:spPr>
          <a:xfrm>
            <a:off x="3973068" y="4937760"/>
            <a:ext cx="1897380" cy="502920"/>
          </a:xfrm>
          <a:prstGeom prst="roundRect">
            <a:avLst>
              <a:gd name="adj" fmla="val 49091"/>
            </a:avLst>
          </a:prstGeom>
          <a:solidFill>
            <a:srgbClr val="FFFFFF"/>
          </a:solidFill>
          <a:ln w="12700">
            <a:solidFill>
              <a:srgbClr val="CFC8B8"/>
            </a:solidFill>
            <a:prstDash val="solid"/>
          </a:ln>
        </p:spPr>
        <p:txBody>
          <a:bodyPr/>
          <a:lstStyle/>
          <a:p>
            <a:endParaRPr lang="es-MX"/>
          </a:p>
        </p:txBody>
      </p:sp>
      <p:sp>
        <p:nvSpPr>
          <p:cNvPr id="24" name="Text 22"/>
          <p:cNvSpPr txBox="1"/>
          <p:nvPr/>
        </p:nvSpPr>
        <p:spPr>
          <a:xfrm>
            <a:off x="3973068" y="4937760"/>
            <a:ext cx="1897380" cy="502920"/>
          </a:xfrm>
          <a:prstGeom prst="rect">
            <a:avLst/>
          </a:prstGeom>
          <a:noFill/>
          <a:ln/>
        </p:spPr>
        <p:txBody>
          <a:bodyPr wrap="square" lIns="0" tIns="0" rIns="0" bIns="0" rtlCol="0" anchor="ctr"/>
          <a:lstStyle/>
          <a:p>
            <a:pPr marL="0" indent="0" algn="ctr">
              <a:buNone/>
            </a:pPr>
            <a:r>
              <a:rPr lang="en-US" sz="1500" dirty="0">
                <a:solidFill>
                  <a:srgbClr val="14213D"/>
                </a:solidFill>
                <a:latin typeface="Calibri" pitchFamily="34" charset="0"/>
                <a:ea typeface="Calibri" pitchFamily="34" charset="-122"/>
                <a:cs typeface="Calibri" pitchFamily="34" charset="-120"/>
              </a:rPr>
              <a:t>0.7 ≤ K/S ≤ 1.3</a:t>
            </a:r>
            <a:endParaRPr lang="en-US" sz="1500" dirty="0"/>
          </a:p>
        </p:txBody>
      </p:sp>
      <p:sp>
        <p:nvSpPr>
          <p:cNvPr id="25" name="Shape 23"/>
          <p:cNvSpPr/>
          <p:nvPr/>
        </p:nvSpPr>
        <p:spPr>
          <a:xfrm>
            <a:off x="6053328" y="4937760"/>
            <a:ext cx="2423160" cy="502920"/>
          </a:xfrm>
          <a:prstGeom prst="roundRect">
            <a:avLst>
              <a:gd name="adj" fmla="val 49091"/>
            </a:avLst>
          </a:prstGeom>
          <a:solidFill>
            <a:srgbClr val="FFFFFF"/>
          </a:solidFill>
          <a:ln w="12700">
            <a:solidFill>
              <a:srgbClr val="CFC8B8"/>
            </a:solidFill>
            <a:prstDash val="solid"/>
          </a:ln>
        </p:spPr>
        <p:txBody>
          <a:bodyPr/>
          <a:lstStyle/>
          <a:p>
            <a:endParaRPr lang="es-MX"/>
          </a:p>
        </p:txBody>
      </p:sp>
      <p:sp>
        <p:nvSpPr>
          <p:cNvPr id="26" name="Text 24"/>
          <p:cNvSpPr txBox="1"/>
          <p:nvPr/>
        </p:nvSpPr>
        <p:spPr>
          <a:xfrm>
            <a:off x="6053328" y="4937760"/>
            <a:ext cx="2423160" cy="502920"/>
          </a:xfrm>
          <a:prstGeom prst="rect">
            <a:avLst/>
          </a:prstGeom>
          <a:noFill/>
          <a:ln/>
        </p:spPr>
        <p:txBody>
          <a:bodyPr wrap="square" lIns="0" tIns="0" rIns="0" bIns="0" rtlCol="0" anchor="ctr"/>
          <a:lstStyle/>
          <a:p>
            <a:pPr marL="0" indent="0" algn="ctr">
              <a:buNone/>
            </a:pPr>
            <a:r>
              <a:rPr lang="en-US" sz="1500" dirty="0">
                <a:solidFill>
                  <a:srgbClr val="14213D"/>
                </a:solidFill>
                <a:latin typeface="Calibri" pitchFamily="34" charset="0"/>
                <a:ea typeface="Calibri" pitchFamily="34" charset="-122"/>
                <a:cs typeface="Calibri" pitchFamily="34" charset="-120"/>
              </a:rPr>
              <a:t>volumen faltante → 0</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F"/>
        </a:solidFill>
        <a:effectLst/>
      </p:bgPr>
    </p:bg>
    <p:spTree>
      <p:nvGrpSpPr>
        <p:cNvPr id="1" name=""/>
        <p:cNvGrpSpPr/>
        <p:nvPr/>
      </p:nvGrpSpPr>
      <p:grpSpPr>
        <a:xfrm>
          <a:off x="0" y="0"/>
          <a:ext cx="0" cy="0"/>
          <a:chOff x="0" y="0"/>
          <a:chExt cx="0" cy="0"/>
        </a:xfrm>
      </p:grpSpPr>
      <p:sp>
        <p:nvSpPr>
          <p:cNvPr id="2" name="Text 0"/>
          <p:cNvSpPr txBox="1"/>
          <p:nvPr/>
        </p:nvSpPr>
        <p:spPr>
          <a:xfrm>
            <a:off x="548640" y="6355080"/>
            <a:ext cx="7315200" cy="274320"/>
          </a:xfrm>
          <a:prstGeom prst="rect">
            <a:avLst/>
          </a:prstGeom>
          <a:noFill/>
          <a:ln/>
        </p:spPr>
        <p:txBody>
          <a:bodyPr wrap="square" lIns="0" tIns="0" rIns="0" bIns="0" rtlCol="0" anchor="ctr"/>
          <a:lstStyle/>
          <a:p>
            <a:pPr marL="0" indent="0">
              <a:buNone/>
            </a:pPr>
            <a:r>
              <a:rPr lang="en-US" sz="1100" dirty="0">
                <a:solidFill>
                  <a:srgbClr val="5B6472"/>
                </a:solidFill>
                <a:latin typeface="Calibri" pitchFamily="34" charset="0"/>
                <a:ea typeface="Calibri" pitchFamily="34" charset="-122"/>
                <a:cs typeface="Calibri" pitchFamily="34" charset="-120"/>
              </a:rPr>
              <a:t>Superficie de volatilidad implícita · Análisis de Regresión</a:t>
            </a:r>
            <a:endParaRPr lang="en-US" sz="1100" dirty="0"/>
          </a:p>
        </p:txBody>
      </p:sp>
      <p:sp>
        <p:nvSpPr>
          <p:cNvPr id="3" name="Text 1"/>
          <p:cNvSpPr txBox="1"/>
          <p:nvPr/>
        </p:nvSpPr>
        <p:spPr>
          <a:xfrm>
            <a:off x="10728655" y="6355080"/>
            <a:ext cx="914400" cy="274320"/>
          </a:xfrm>
          <a:prstGeom prst="rect">
            <a:avLst/>
          </a:prstGeom>
          <a:noFill/>
          <a:ln/>
        </p:spPr>
        <p:txBody>
          <a:bodyPr wrap="square" lIns="0" tIns="0" rIns="0" bIns="0" rtlCol="0" anchor="ctr"/>
          <a:lstStyle/>
          <a:p>
            <a:pPr marL="0" indent="0" algn="r">
              <a:buNone/>
            </a:pPr>
            <a:r>
              <a:rPr lang="en-US" sz="1100" dirty="0">
                <a:solidFill>
                  <a:srgbClr val="5B6472"/>
                </a:solidFill>
                <a:latin typeface="Calibri" pitchFamily="34" charset="0"/>
                <a:ea typeface="Calibri" pitchFamily="34" charset="-122"/>
                <a:cs typeface="Calibri" pitchFamily="34" charset="-120"/>
              </a:rPr>
              <a:t>5</a:t>
            </a:r>
            <a:endParaRPr lang="en-US" sz="1100" dirty="0"/>
          </a:p>
        </p:txBody>
      </p:sp>
      <p:sp>
        <p:nvSpPr>
          <p:cNvPr id="4" name="Text 2"/>
          <p:cNvSpPr txBox="1"/>
          <p:nvPr/>
        </p:nvSpPr>
        <p:spPr>
          <a:xfrm>
            <a:off x="548640" y="411480"/>
            <a:ext cx="11094415" cy="731520"/>
          </a:xfrm>
          <a:prstGeom prst="rect">
            <a:avLst/>
          </a:prstGeom>
          <a:noFill/>
          <a:ln/>
        </p:spPr>
        <p:txBody>
          <a:bodyPr wrap="square" lIns="0" tIns="0" rIns="0" bIns="0" rtlCol="0" anchor="t"/>
          <a:lstStyle/>
          <a:p>
            <a:pPr marL="0" indent="0">
              <a:buNone/>
            </a:pPr>
            <a:r>
              <a:rPr lang="en-US" sz="3400" b="1" dirty="0">
                <a:solidFill>
                  <a:srgbClr val="14213D"/>
                </a:solidFill>
                <a:latin typeface="Cambria" pitchFamily="34" charset="0"/>
                <a:ea typeface="Cambria" pitchFamily="34" charset="-122"/>
                <a:cs typeface="Cambria" pitchFamily="34" charset="-120"/>
              </a:rPr>
              <a:t>Transformaciones</a:t>
            </a:r>
            <a:endParaRPr lang="en-US" sz="3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92608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5242255">
                  <a:extLst>
                    <a:ext uri="{9D8B030D-6E8A-4147-A177-3AD203B41FA5}">
                      <a16:colId xmlns:a16="http://schemas.microsoft.com/office/drawing/2014/main" val="20002"/>
                    </a:ext>
                  </a:extLst>
                </a:gridCol>
              </a:tblGrid>
              <a:tr h="475488">
                <a:tc>
                  <a:txBody>
                    <a:bodyPr/>
                    <a:lstStyle/>
                    <a:p>
                      <a:pPr marL="0" indent="0">
                        <a:buNone/>
                      </a:pPr>
                      <a:r>
                        <a:rPr lang="en-US" sz="1600" b="1" dirty="0">
                          <a:solidFill>
                            <a:srgbClr val="14213D"/>
                          </a:solidFill>
                          <a:latin typeface="Calibri" pitchFamily="34" charset="0"/>
                          <a:ea typeface="Calibri" pitchFamily="34" charset="-122"/>
                          <a:cs typeface="Calibri" pitchFamily="34" charset="-120"/>
                        </a:rPr>
                        <a:t>Variable</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solidFill>
                      <a:srgbClr val="ECE7DC"/>
                    </a:solidFill>
                  </a:tcPr>
                </a:tc>
                <a:tc>
                  <a:txBody>
                    <a:bodyPr/>
                    <a:lstStyle/>
                    <a:p>
                      <a:pPr marL="0" indent="0">
                        <a:buNone/>
                      </a:pPr>
                      <a:r>
                        <a:rPr lang="en-US" sz="1600" b="1" dirty="0">
                          <a:solidFill>
                            <a:srgbClr val="14213D"/>
                          </a:solidFill>
                          <a:latin typeface="Calibri" pitchFamily="34" charset="0"/>
                          <a:ea typeface="Calibri" pitchFamily="34" charset="-122"/>
                          <a:cs typeface="Calibri" pitchFamily="34" charset="-120"/>
                        </a:rPr>
                        <a:t>Transformación</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solidFill>
                      <a:srgbClr val="ECE7DC"/>
                    </a:solidFill>
                  </a:tcPr>
                </a:tc>
                <a:tc>
                  <a:txBody>
                    <a:bodyPr/>
                    <a:lstStyle/>
                    <a:p>
                      <a:pPr marL="0" indent="0">
                        <a:buNone/>
                      </a:pPr>
                      <a:r>
                        <a:rPr lang="en-US" sz="1600" b="1" dirty="0">
                          <a:solidFill>
                            <a:srgbClr val="14213D"/>
                          </a:solidFill>
                          <a:latin typeface="Calibri" pitchFamily="34" charset="0"/>
                          <a:ea typeface="Calibri" pitchFamily="34" charset="-122"/>
                          <a:cs typeface="Calibri" pitchFamily="34" charset="-120"/>
                        </a:rPr>
                        <a:t>Por qué</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solidFill>
                      <a:srgbClr val="ECE7DC"/>
                    </a:solidFill>
                  </a:tcPr>
                </a:tc>
                <a:extLst>
                  <a:ext uri="{0D108BD9-81ED-4DB2-BD59-A6C34878D82A}">
                    <a16:rowId xmlns:a16="http://schemas.microsoft.com/office/drawing/2014/main" val="10000"/>
                  </a:ext>
                </a:extLst>
              </a:tr>
              <a:tr h="475488">
                <a:tc>
                  <a:txBody>
                    <a:bodyPr/>
                    <a:lstStyle/>
                    <a:p>
                      <a:pPr marL="0" indent="0">
                        <a:buNone/>
                      </a:pPr>
                      <a:r>
                        <a:rPr lang="en-US" sz="1600" dirty="0">
                          <a:solidFill>
                            <a:srgbClr val="14213D"/>
                          </a:solidFill>
                          <a:latin typeface="Calibri" pitchFamily="34" charset="0"/>
                          <a:ea typeface="Calibri" pitchFamily="34" charset="-122"/>
                          <a:cs typeface="Calibri" pitchFamily="34" charset="-120"/>
                        </a:rPr>
                        <a:t>strike</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tc>
                  <a:txBody>
                    <a:bodyPr/>
                    <a:lstStyle/>
                    <a:p>
                      <a:pPr marL="0" indent="0">
                        <a:buNone/>
                      </a:pPr>
                      <a:r>
                        <a:rPr lang="en-US" sz="1600" dirty="0">
                          <a:solidFill>
                            <a:srgbClr val="1F7A8C"/>
                          </a:solidFill>
                          <a:latin typeface="Calibri" pitchFamily="34" charset="0"/>
                          <a:ea typeface="Calibri" pitchFamily="34" charset="-122"/>
                          <a:cs typeface="Calibri" pitchFamily="34" charset="-120"/>
                        </a:rPr>
                        <a:t>logm = log(K/S)</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tc>
                  <a:txBody>
                    <a:bodyPr/>
                    <a:lstStyle/>
                    <a:p>
                      <a:pPr marL="0" indent="0">
                        <a:buNone/>
                      </a:pPr>
                      <a:r>
                        <a:rPr lang="en-US" sz="1600" dirty="0">
                          <a:solidFill>
                            <a:srgbClr val="3E4A5C"/>
                          </a:solidFill>
                          <a:latin typeface="Calibri" pitchFamily="34" charset="0"/>
                          <a:ea typeface="Calibri" pitchFamily="34" charset="-122"/>
                          <a:cs typeface="Calibri" pitchFamily="34" charset="-120"/>
                        </a:rPr>
                        <a:t>Comparable entre subyacentes; 0 = at the money</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buNone/>
                      </a:pPr>
                      <a:r>
                        <a:rPr lang="en-US" sz="1600" dirty="0">
                          <a:solidFill>
                            <a:srgbClr val="14213D"/>
                          </a:solidFill>
                          <a:latin typeface="Calibri" pitchFamily="34" charset="0"/>
                          <a:ea typeface="Calibri" pitchFamily="34" charset="-122"/>
                          <a:cs typeface="Calibri" pitchFamily="34" charset="-120"/>
                        </a:rPr>
                        <a:t>días al vencimiento</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tc>
                  <a:txBody>
                    <a:bodyPr/>
                    <a:lstStyle/>
                    <a:p>
                      <a:pPr marL="0" indent="0">
                        <a:buNone/>
                      </a:pPr>
                      <a:r>
                        <a:rPr lang="en-US" sz="1600" dirty="0">
                          <a:solidFill>
                            <a:srgbClr val="1F7A8C"/>
                          </a:solidFill>
                          <a:latin typeface="Calibri" pitchFamily="34" charset="0"/>
                          <a:ea typeface="Calibri" pitchFamily="34" charset="-122"/>
                          <a:cs typeface="Calibri" pitchFamily="34" charset="-120"/>
                        </a:rPr>
                        <a:t>T = días / 365</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tc>
                  <a:txBody>
                    <a:bodyPr/>
                    <a:lstStyle/>
                    <a:p>
                      <a:pPr marL="0" indent="0">
                        <a:buNone/>
                      </a:pPr>
                      <a:r>
                        <a:rPr lang="en-US" sz="1600" dirty="0">
                          <a:solidFill>
                            <a:srgbClr val="3E4A5C"/>
                          </a:solidFill>
                          <a:latin typeface="Calibri" pitchFamily="34" charset="0"/>
                          <a:ea typeface="Calibri" pitchFamily="34" charset="-122"/>
                          <a:cs typeface="Calibri" pitchFamily="34" charset="-120"/>
                        </a:rPr>
                        <a:t>Plazo en años</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buNone/>
                      </a:pPr>
                      <a:r>
                        <a:rPr lang="en-US" sz="1600" dirty="0">
                          <a:solidFill>
                            <a:srgbClr val="14213D"/>
                          </a:solidFill>
                          <a:latin typeface="Calibri" pitchFamily="34" charset="0"/>
                          <a:ea typeface="Calibri" pitchFamily="34" charset="-122"/>
                          <a:cs typeface="Calibri" pitchFamily="34" charset="-120"/>
                        </a:rPr>
                        <a:t>volumen, interés abierto</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tc>
                  <a:txBody>
                    <a:bodyPr/>
                    <a:lstStyle/>
                    <a:p>
                      <a:pPr marL="0" indent="0">
                        <a:buNone/>
                      </a:pPr>
                      <a:r>
                        <a:rPr lang="en-US" sz="1600" dirty="0">
                          <a:solidFill>
                            <a:srgbClr val="1F7A8C"/>
                          </a:solidFill>
                          <a:latin typeface="Calibri" pitchFamily="34" charset="0"/>
                          <a:ea typeface="Calibri" pitchFamily="34" charset="-122"/>
                          <a:cs typeface="Calibri" pitchFamily="34" charset="-120"/>
                        </a:rPr>
                        <a:t>log(1 + x)</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tc>
                  <a:txBody>
                    <a:bodyPr/>
                    <a:lstStyle/>
                    <a:p>
                      <a:pPr marL="0" indent="0">
                        <a:buNone/>
                      </a:pPr>
                      <a:r>
                        <a:rPr lang="en-US" sz="1600" dirty="0">
                          <a:solidFill>
                            <a:srgbClr val="3E4A5C"/>
                          </a:solidFill>
                          <a:latin typeface="Calibri" pitchFamily="34" charset="0"/>
                          <a:ea typeface="Calibri" pitchFamily="34" charset="-122"/>
                          <a:cs typeface="Calibri" pitchFamily="34" charset="-120"/>
                        </a:rPr>
                        <a:t>Colas muy largas y muchos ceros</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marL="0" indent="0">
                        <a:buNone/>
                      </a:pPr>
                      <a:r>
                        <a:rPr lang="en-US" sz="1600" dirty="0">
                          <a:solidFill>
                            <a:srgbClr val="14213D"/>
                          </a:solidFill>
                          <a:latin typeface="Calibri" pitchFamily="34" charset="0"/>
                          <a:ea typeface="Calibri" pitchFamily="34" charset="-122"/>
                          <a:cs typeface="Calibri" pitchFamily="34" charset="-120"/>
                        </a:rPr>
                        <a:t>tipo (call / put)</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tc>
                  <a:txBody>
                    <a:bodyPr/>
                    <a:lstStyle/>
                    <a:p>
                      <a:pPr marL="0" indent="0">
                        <a:buNone/>
                      </a:pPr>
                      <a:r>
                        <a:rPr lang="en-US" sz="1600" dirty="0">
                          <a:solidFill>
                            <a:srgbClr val="1F7A8C"/>
                          </a:solidFill>
                          <a:latin typeface="Calibri" pitchFamily="34" charset="0"/>
                          <a:ea typeface="Calibri" pitchFamily="34" charset="-122"/>
                          <a:cs typeface="Calibri" pitchFamily="34" charset="-120"/>
                        </a:rPr>
                        <a:t>dummy es_put</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tc>
                  <a:txBody>
                    <a:bodyPr/>
                    <a:lstStyle/>
                    <a:p>
                      <a:pPr marL="0" indent="0">
                        <a:buNone/>
                      </a:pPr>
                      <a:r>
                        <a:rPr lang="en-US" sz="1600" dirty="0">
                          <a:solidFill>
                            <a:srgbClr val="3E4A5C"/>
                          </a:solidFill>
                          <a:latin typeface="Calibri" pitchFamily="34" charset="0"/>
                          <a:ea typeface="Calibri" pitchFamily="34" charset="-122"/>
                          <a:cs typeface="Calibri" pitchFamily="34" charset="-120"/>
                        </a:rPr>
                        <a:t>Factor cualitativo de 2 niveles</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extLst>
                  <a:ext uri="{0D108BD9-81ED-4DB2-BD59-A6C34878D82A}">
                    <a16:rowId xmlns:a16="http://schemas.microsoft.com/office/drawing/2014/main" val="10004"/>
                  </a:ext>
                </a:extLst>
              </a:tr>
              <a:tr h="475488">
                <a:tc>
                  <a:txBody>
                    <a:bodyPr/>
                    <a:lstStyle/>
                    <a:p>
                      <a:pPr marL="0" indent="0">
                        <a:buNone/>
                      </a:pPr>
                      <a:r>
                        <a:rPr lang="en-US" sz="1600" dirty="0">
                          <a:solidFill>
                            <a:srgbClr val="14213D"/>
                          </a:solidFill>
                          <a:latin typeface="Calibri" pitchFamily="34" charset="0"/>
                          <a:ea typeface="Calibri" pitchFamily="34" charset="-122"/>
                          <a:cs typeface="Calibri" pitchFamily="34" charset="-120"/>
                        </a:rPr>
                        <a:t>subyacente</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tc>
                  <a:txBody>
                    <a:bodyPr/>
                    <a:lstStyle/>
                    <a:p>
                      <a:pPr marL="0" indent="0">
                        <a:buNone/>
                      </a:pPr>
                      <a:r>
                        <a:rPr lang="en-US" sz="1600" dirty="0">
                          <a:solidFill>
                            <a:srgbClr val="1F7A8C"/>
                          </a:solidFill>
                          <a:latin typeface="Calibri" pitchFamily="34" charset="0"/>
                          <a:ea typeface="Calibri" pitchFamily="34" charset="-122"/>
                          <a:cs typeface="Calibri" pitchFamily="34" charset="-120"/>
                        </a:rPr>
                        <a:t>One-Hot, 5 dummies</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tc>
                  <a:txBody>
                    <a:bodyPr/>
                    <a:lstStyle/>
                    <a:p>
                      <a:pPr marL="0" indent="0">
                        <a:buNone/>
                      </a:pPr>
                      <a:r>
                        <a:rPr lang="en-US" sz="1600" dirty="0">
                          <a:solidFill>
                            <a:srgbClr val="3E4A5C"/>
                          </a:solidFill>
                          <a:latin typeface="Calibri" pitchFamily="34" charset="0"/>
                          <a:ea typeface="Calibri" pitchFamily="34" charset="-122"/>
                          <a:cs typeface="Calibri" pitchFamily="34" charset="-120"/>
                        </a:rPr>
                        <a:t>Categoría base AAPL; evita la dummy trap</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extLst>
                  <a:ext uri="{0D108BD9-81ED-4DB2-BD59-A6C34878D82A}">
                    <a16:rowId xmlns:a16="http://schemas.microsoft.com/office/drawing/2014/main" val="10005"/>
                  </a:ext>
                </a:extLst>
              </a:tr>
              <a:tr h="475488">
                <a:tc>
                  <a:txBody>
                    <a:bodyPr/>
                    <a:lstStyle/>
                    <a:p>
                      <a:pPr marL="0" indent="0">
                        <a:buNone/>
                      </a:pPr>
                      <a:r>
                        <a:rPr lang="en-US" sz="1600" dirty="0">
                          <a:solidFill>
                            <a:srgbClr val="14213D"/>
                          </a:solidFill>
                          <a:latin typeface="Calibri" pitchFamily="34" charset="0"/>
                          <a:ea typeface="Calibri" pitchFamily="34" charset="-122"/>
                          <a:cs typeface="Calibri" pitchFamily="34" charset="-120"/>
                        </a:rPr>
                        <a:t>es_put × logm</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tc>
                  <a:txBody>
                    <a:bodyPr/>
                    <a:lstStyle/>
                    <a:p>
                      <a:pPr marL="0" indent="0">
                        <a:buNone/>
                      </a:pPr>
                      <a:r>
                        <a:rPr lang="en-US" sz="1600" dirty="0">
                          <a:solidFill>
                            <a:srgbClr val="1F7A8C"/>
                          </a:solidFill>
                          <a:latin typeface="Calibri" pitchFamily="34" charset="0"/>
                          <a:ea typeface="Calibri" pitchFamily="34" charset="-122"/>
                          <a:cs typeface="Calibri" pitchFamily="34" charset="-120"/>
                        </a:rPr>
                        <a:t>interacción</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tc>
                  <a:txBody>
                    <a:bodyPr/>
                    <a:lstStyle/>
                    <a:p>
                      <a:pPr marL="0" indent="0">
                        <a:buNone/>
                      </a:pPr>
                      <a:r>
                        <a:rPr lang="en-US" sz="1600" dirty="0">
                          <a:solidFill>
                            <a:srgbClr val="3E4A5C"/>
                          </a:solidFill>
                          <a:latin typeface="Calibri" pitchFamily="34" charset="0"/>
                          <a:ea typeface="Calibri" pitchFamily="34" charset="-122"/>
                          <a:cs typeface="Calibri" pitchFamily="34" charset="-120"/>
                        </a:rPr>
                        <a:t>Pendiente distinta para calls y puts</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extLst>
                  <a:ext uri="{0D108BD9-81ED-4DB2-BD59-A6C34878D82A}">
                    <a16:rowId xmlns:a16="http://schemas.microsoft.com/office/drawing/2014/main" val="10006"/>
                  </a:ext>
                </a:extLst>
              </a:tr>
              <a:tr h="475488">
                <a:tc>
                  <a:txBody>
                    <a:bodyPr/>
                    <a:lstStyle/>
                    <a:p>
                      <a:pPr marL="0" indent="0">
                        <a:buNone/>
                      </a:pPr>
                      <a:r>
                        <a:rPr lang="en-US" sz="1600" dirty="0">
                          <a:solidFill>
                            <a:srgbClr val="14213D"/>
                          </a:solidFill>
                          <a:latin typeface="Calibri" pitchFamily="34" charset="0"/>
                          <a:ea typeface="Calibri" pitchFamily="34" charset="-122"/>
                          <a:cs typeface="Calibri" pitchFamily="34" charset="-120"/>
                        </a:rPr>
                        <a:t>volatilidad implícita</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tc>
                  <a:txBody>
                    <a:bodyPr/>
                    <a:lstStyle/>
                    <a:p>
                      <a:pPr marL="0" indent="0">
                        <a:buNone/>
                      </a:pPr>
                      <a:r>
                        <a:rPr lang="en-US" sz="1600" dirty="0">
                          <a:solidFill>
                            <a:srgbClr val="1F7A8C"/>
                          </a:solidFill>
                          <a:latin typeface="Calibri" pitchFamily="34" charset="0"/>
                          <a:ea typeface="Calibri" pitchFamily="34" charset="-122"/>
                          <a:cs typeface="Calibri" pitchFamily="34" charset="-120"/>
                        </a:rPr>
                        <a:t>log(VI)</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tc>
                  <a:txBody>
                    <a:bodyPr/>
                    <a:lstStyle/>
                    <a:p>
                      <a:pPr marL="0" indent="0">
                        <a:buNone/>
                      </a:pPr>
                      <a:r>
                        <a:rPr lang="en-US" sz="1600" dirty="0">
                          <a:solidFill>
                            <a:srgbClr val="3E4A5C"/>
                          </a:solidFill>
                          <a:latin typeface="Calibri" pitchFamily="34" charset="0"/>
                          <a:ea typeface="Calibri" pitchFamily="34" charset="-122"/>
                          <a:cs typeface="Calibri" pitchFamily="34" charset="-120"/>
                        </a:rPr>
                        <a:t>Residuos simétricos y predicciones positivas</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extLst>
                  <a:ext uri="{0D108BD9-81ED-4DB2-BD59-A6C34878D82A}">
                    <a16:rowId xmlns:a16="http://schemas.microsoft.com/office/drawing/2014/main" val="10007"/>
                  </a:ext>
                </a:extLst>
              </a:tr>
              <a:tr h="475488">
                <a:tc>
                  <a:txBody>
                    <a:bodyPr/>
                    <a:lstStyle/>
                    <a:p>
                      <a:pPr marL="0" indent="0">
                        <a:buNone/>
                      </a:pPr>
                      <a:r>
                        <a:rPr lang="en-US" sz="1600" dirty="0">
                          <a:solidFill>
                            <a:srgbClr val="14213D"/>
                          </a:solidFill>
                          <a:latin typeface="Calibri" pitchFamily="34" charset="0"/>
                          <a:ea typeface="Calibri" pitchFamily="34" charset="-122"/>
                          <a:cs typeface="Calibri" pitchFamily="34" charset="-120"/>
                        </a:rPr>
                        <a:t>numéricas</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tc>
                  <a:txBody>
                    <a:bodyPr/>
                    <a:lstStyle/>
                    <a:p>
                      <a:pPr marL="0" indent="0">
                        <a:buNone/>
                      </a:pPr>
                      <a:r>
                        <a:rPr lang="en-US" sz="1600" dirty="0">
                          <a:solidFill>
                            <a:srgbClr val="1F7A8C"/>
                          </a:solidFill>
                          <a:latin typeface="Calibri" pitchFamily="34" charset="0"/>
                          <a:ea typeface="Calibri" pitchFamily="34" charset="-122"/>
                          <a:cs typeface="Calibri" pitchFamily="34" charset="-120"/>
                        </a:rPr>
                        <a:t>StandardScaler</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tc>
                  <a:txBody>
                    <a:bodyPr/>
                    <a:lstStyle/>
                    <a:p>
                      <a:pPr marL="0" indent="0">
                        <a:buNone/>
                      </a:pPr>
                      <a:r>
                        <a:rPr lang="en-US" sz="1600" dirty="0">
                          <a:solidFill>
                            <a:srgbClr val="3E4A5C"/>
                          </a:solidFill>
                          <a:latin typeface="Calibri" pitchFamily="34" charset="0"/>
                          <a:ea typeface="Calibri" pitchFamily="34" charset="-122"/>
                          <a:cs typeface="Calibri" pitchFamily="34" charset="-120"/>
                        </a:rPr>
                        <a:t>Antes de generar potencias y de penalizar</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F"/>
        </a:solidFill>
        <a:effectLst/>
      </p:bgPr>
    </p:bg>
    <p:spTree>
      <p:nvGrpSpPr>
        <p:cNvPr id="1" name=""/>
        <p:cNvGrpSpPr/>
        <p:nvPr/>
      </p:nvGrpSpPr>
      <p:grpSpPr>
        <a:xfrm>
          <a:off x="0" y="0"/>
          <a:ext cx="0" cy="0"/>
          <a:chOff x="0" y="0"/>
          <a:chExt cx="0" cy="0"/>
        </a:xfrm>
      </p:grpSpPr>
      <p:sp>
        <p:nvSpPr>
          <p:cNvPr id="2" name="Text 0"/>
          <p:cNvSpPr txBox="1"/>
          <p:nvPr/>
        </p:nvSpPr>
        <p:spPr>
          <a:xfrm>
            <a:off x="548640" y="6355080"/>
            <a:ext cx="7315200" cy="274320"/>
          </a:xfrm>
          <a:prstGeom prst="rect">
            <a:avLst/>
          </a:prstGeom>
          <a:noFill/>
          <a:ln/>
        </p:spPr>
        <p:txBody>
          <a:bodyPr wrap="square" lIns="0" tIns="0" rIns="0" bIns="0" rtlCol="0" anchor="ctr"/>
          <a:lstStyle/>
          <a:p>
            <a:pPr marL="0" indent="0">
              <a:buNone/>
            </a:pPr>
            <a:r>
              <a:rPr lang="en-US" sz="1100" dirty="0">
                <a:solidFill>
                  <a:srgbClr val="5B6472"/>
                </a:solidFill>
                <a:latin typeface="Calibri" pitchFamily="34" charset="0"/>
                <a:ea typeface="Calibri" pitchFamily="34" charset="-122"/>
                <a:cs typeface="Calibri" pitchFamily="34" charset="-120"/>
              </a:rPr>
              <a:t>Superficie de volatilidad implícita · Análisis de Regresión</a:t>
            </a:r>
            <a:endParaRPr lang="en-US" sz="1100" dirty="0"/>
          </a:p>
        </p:txBody>
      </p:sp>
      <p:sp>
        <p:nvSpPr>
          <p:cNvPr id="3" name="Text 1"/>
          <p:cNvSpPr txBox="1"/>
          <p:nvPr/>
        </p:nvSpPr>
        <p:spPr>
          <a:xfrm>
            <a:off x="10728655" y="6355080"/>
            <a:ext cx="914400" cy="274320"/>
          </a:xfrm>
          <a:prstGeom prst="rect">
            <a:avLst/>
          </a:prstGeom>
          <a:noFill/>
          <a:ln/>
        </p:spPr>
        <p:txBody>
          <a:bodyPr wrap="square" lIns="0" tIns="0" rIns="0" bIns="0" rtlCol="0" anchor="ctr"/>
          <a:lstStyle/>
          <a:p>
            <a:pPr marL="0" indent="0" algn="r">
              <a:buNone/>
            </a:pPr>
            <a:r>
              <a:rPr lang="en-US" sz="1100" dirty="0">
                <a:solidFill>
                  <a:srgbClr val="5B6472"/>
                </a:solidFill>
                <a:latin typeface="Calibri" pitchFamily="34" charset="0"/>
                <a:ea typeface="Calibri" pitchFamily="34" charset="-122"/>
                <a:cs typeface="Calibri" pitchFamily="34" charset="-120"/>
              </a:rPr>
              <a:t>6</a:t>
            </a:r>
            <a:endParaRPr lang="en-US" sz="1100" dirty="0"/>
          </a:p>
        </p:txBody>
      </p:sp>
      <p:sp>
        <p:nvSpPr>
          <p:cNvPr id="4" name="Text 2"/>
          <p:cNvSpPr txBox="1"/>
          <p:nvPr/>
        </p:nvSpPr>
        <p:spPr>
          <a:xfrm>
            <a:off x="548640" y="411480"/>
            <a:ext cx="11094415" cy="731520"/>
          </a:xfrm>
          <a:prstGeom prst="rect">
            <a:avLst/>
          </a:prstGeom>
          <a:noFill/>
          <a:ln/>
        </p:spPr>
        <p:txBody>
          <a:bodyPr wrap="square" lIns="0" tIns="0" rIns="0" bIns="0" rtlCol="0" anchor="t"/>
          <a:lstStyle/>
          <a:p>
            <a:pPr marL="0" indent="0">
              <a:buNone/>
            </a:pPr>
            <a:r>
              <a:rPr lang="en-US" sz="3400" b="1" dirty="0">
                <a:solidFill>
                  <a:srgbClr val="14213D"/>
                </a:solidFill>
                <a:latin typeface="Cambria" pitchFamily="34" charset="0"/>
                <a:ea typeface="Cambria" pitchFamily="34" charset="-122"/>
                <a:cs typeface="Cambria" pitchFamily="34" charset="-120"/>
              </a:rPr>
              <a:t>Pipeline</a:t>
            </a:r>
            <a:endParaRPr lang="en-US" sz="3400" dirty="0"/>
          </a:p>
        </p:txBody>
      </p:sp>
      <p:sp>
        <p:nvSpPr>
          <p:cNvPr id="5" name="Shape 3"/>
          <p:cNvSpPr/>
          <p:nvPr/>
        </p:nvSpPr>
        <p:spPr>
          <a:xfrm>
            <a:off x="548640" y="1371600"/>
            <a:ext cx="3423818" cy="1691640"/>
          </a:xfrm>
          <a:prstGeom prst="roundRect">
            <a:avLst>
              <a:gd name="adj" fmla="val 6486"/>
            </a:avLst>
          </a:prstGeom>
          <a:solidFill>
            <a:srgbClr val="ECE7DC"/>
          </a:solidFill>
          <a:ln w="12700">
            <a:solidFill>
              <a:srgbClr val="ECE7DC"/>
            </a:solidFill>
            <a:prstDash val="solid"/>
          </a:ln>
        </p:spPr>
        <p:txBody>
          <a:bodyPr/>
          <a:lstStyle/>
          <a:p>
            <a:endParaRPr lang="es-MX"/>
          </a:p>
        </p:txBody>
      </p:sp>
      <p:sp>
        <p:nvSpPr>
          <p:cNvPr id="6" name="Text 4"/>
          <p:cNvSpPr txBox="1"/>
          <p:nvPr/>
        </p:nvSpPr>
        <p:spPr>
          <a:xfrm>
            <a:off x="822960" y="1572768"/>
            <a:ext cx="2875178" cy="274320"/>
          </a:xfrm>
          <a:prstGeom prst="rect">
            <a:avLst/>
          </a:prstGeom>
          <a:noFill/>
          <a:ln/>
        </p:spPr>
        <p:txBody>
          <a:bodyPr wrap="square" lIns="0" tIns="0" rIns="0" bIns="0" rtlCol="0" anchor="ctr"/>
          <a:lstStyle/>
          <a:p>
            <a:pPr marL="0" indent="0">
              <a:buNone/>
            </a:pPr>
            <a:r>
              <a:rPr lang="en-US" sz="1200" b="1" dirty="0">
                <a:solidFill>
                  <a:srgbClr val="1F7A8C"/>
                </a:solidFill>
                <a:latin typeface="Calibri" pitchFamily="34" charset="0"/>
                <a:ea typeface="Calibri" pitchFamily="34" charset="-122"/>
                <a:cs typeface="Calibri" pitchFamily="34" charset="-120"/>
              </a:rPr>
              <a:t>PASO 1</a:t>
            </a:r>
            <a:endParaRPr lang="en-US" sz="1200" dirty="0"/>
          </a:p>
        </p:txBody>
      </p:sp>
      <p:sp>
        <p:nvSpPr>
          <p:cNvPr id="7" name="Text 5"/>
          <p:cNvSpPr txBox="1"/>
          <p:nvPr/>
        </p:nvSpPr>
        <p:spPr>
          <a:xfrm>
            <a:off x="822960" y="1874520"/>
            <a:ext cx="2875178" cy="411480"/>
          </a:xfrm>
          <a:prstGeom prst="rect">
            <a:avLst/>
          </a:prstGeom>
          <a:noFill/>
          <a:ln/>
        </p:spPr>
        <p:txBody>
          <a:bodyPr wrap="square" lIns="0" tIns="0" rIns="0" bIns="0" rtlCol="0" anchor="ctr"/>
          <a:lstStyle/>
          <a:p>
            <a:pPr marL="0" indent="0">
              <a:buNone/>
            </a:pPr>
            <a:r>
              <a:rPr lang="en-US" sz="1900" b="1" dirty="0">
                <a:solidFill>
                  <a:srgbClr val="14213D"/>
                </a:solidFill>
                <a:latin typeface="Calibri" pitchFamily="34" charset="0"/>
                <a:ea typeface="Calibri" pitchFamily="34" charset="-122"/>
                <a:cs typeface="Calibri" pitchFamily="34" charset="-120"/>
              </a:rPr>
              <a:t>Datos crudos</a:t>
            </a:r>
            <a:endParaRPr lang="en-US" sz="1900" dirty="0"/>
          </a:p>
        </p:txBody>
      </p:sp>
      <p:sp>
        <p:nvSpPr>
          <p:cNvPr id="8" name="Text 6"/>
          <p:cNvSpPr txBox="1"/>
          <p:nvPr/>
        </p:nvSpPr>
        <p:spPr>
          <a:xfrm>
            <a:off x="822960" y="2304288"/>
            <a:ext cx="2875178" cy="640080"/>
          </a:xfrm>
          <a:prstGeom prst="rect">
            <a:avLst/>
          </a:prstGeom>
          <a:noFill/>
          <a:ln/>
        </p:spPr>
        <p:txBody>
          <a:bodyPr wrap="square" lIns="0" tIns="0" rIns="0" bIns="0" rtlCol="0" anchor="t"/>
          <a:lstStyle/>
          <a:p>
            <a:pPr marL="0" indent="0">
              <a:buNone/>
            </a:pPr>
            <a:r>
              <a:rPr lang="en-US" sz="1400" dirty="0">
                <a:solidFill>
                  <a:srgbClr val="3E4A5C"/>
                </a:solidFill>
                <a:latin typeface="Calibri" pitchFamily="34" charset="0"/>
                <a:ea typeface="Calibri" pitchFamily="34" charset="-122"/>
                <a:cs typeface="Calibri" pitchFamily="34" charset="-120"/>
              </a:rPr>
              <a:t>8,953 contratos de Yahoo Finance</a:t>
            </a:r>
            <a:endParaRPr lang="en-US" sz="1400" dirty="0"/>
          </a:p>
        </p:txBody>
      </p:sp>
      <p:sp>
        <p:nvSpPr>
          <p:cNvPr id="9" name="Shape 7"/>
          <p:cNvSpPr/>
          <p:nvPr/>
        </p:nvSpPr>
        <p:spPr>
          <a:xfrm>
            <a:off x="4036466" y="2217420"/>
            <a:ext cx="283464" cy="0"/>
          </a:xfrm>
          <a:prstGeom prst="line">
            <a:avLst/>
          </a:prstGeom>
          <a:noFill/>
          <a:ln w="25400">
            <a:solidFill>
              <a:srgbClr val="9AA3AE"/>
            </a:solidFill>
            <a:prstDash val="solid"/>
            <a:tailEnd type="triangle"/>
          </a:ln>
        </p:spPr>
        <p:txBody>
          <a:bodyPr/>
          <a:lstStyle/>
          <a:p>
            <a:endParaRPr lang="es-MX"/>
          </a:p>
        </p:txBody>
      </p:sp>
      <p:sp>
        <p:nvSpPr>
          <p:cNvPr id="10" name="Shape 8"/>
          <p:cNvSpPr/>
          <p:nvPr/>
        </p:nvSpPr>
        <p:spPr>
          <a:xfrm>
            <a:off x="4383938" y="1371600"/>
            <a:ext cx="3423818" cy="1691640"/>
          </a:xfrm>
          <a:prstGeom prst="roundRect">
            <a:avLst>
              <a:gd name="adj" fmla="val 6486"/>
            </a:avLst>
          </a:prstGeom>
          <a:solidFill>
            <a:srgbClr val="ECE7DC"/>
          </a:solidFill>
          <a:ln w="12700">
            <a:solidFill>
              <a:srgbClr val="ECE7DC"/>
            </a:solidFill>
            <a:prstDash val="solid"/>
          </a:ln>
        </p:spPr>
        <p:txBody>
          <a:bodyPr/>
          <a:lstStyle/>
          <a:p>
            <a:endParaRPr lang="es-MX"/>
          </a:p>
        </p:txBody>
      </p:sp>
      <p:sp>
        <p:nvSpPr>
          <p:cNvPr id="11" name="Text 9"/>
          <p:cNvSpPr txBox="1"/>
          <p:nvPr/>
        </p:nvSpPr>
        <p:spPr>
          <a:xfrm>
            <a:off x="4658258" y="1572768"/>
            <a:ext cx="2875178" cy="274320"/>
          </a:xfrm>
          <a:prstGeom prst="rect">
            <a:avLst/>
          </a:prstGeom>
          <a:noFill/>
          <a:ln/>
        </p:spPr>
        <p:txBody>
          <a:bodyPr wrap="square" lIns="0" tIns="0" rIns="0" bIns="0" rtlCol="0" anchor="ctr"/>
          <a:lstStyle/>
          <a:p>
            <a:pPr marL="0" indent="0">
              <a:buNone/>
            </a:pPr>
            <a:r>
              <a:rPr lang="en-US" sz="1200" b="1" dirty="0">
                <a:solidFill>
                  <a:srgbClr val="1F7A8C"/>
                </a:solidFill>
                <a:latin typeface="Calibri" pitchFamily="34" charset="0"/>
                <a:ea typeface="Calibri" pitchFamily="34" charset="-122"/>
                <a:cs typeface="Calibri" pitchFamily="34" charset="-120"/>
              </a:rPr>
              <a:t>PASO 2</a:t>
            </a:r>
            <a:endParaRPr lang="en-US" sz="1200" dirty="0"/>
          </a:p>
        </p:txBody>
      </p:sp>
      <p:sp>
        <p:nvSpPr>
          <p:cNvPr id="12" name="Text 10"/>
          <p:cNvSpPr txBox="1"/>
          <p:nvPr/>
        </p:nvSpPr>
        <p:spPr>
          <a:xfrm>
            <a:off x="4658258" y="1874520"/>
            <a:ext cx="2875178" cy="411480"/>
          </a:xfrm>
          <a:prstGeom prst="rect">
            <a:avLst/>
          </a:prstGeom>
          <a:noFill/>
          <a:ln/>
        </p:spPr>
        <p:txBody>
          <a:bodyPr wrap="square" lIns="0" tIns="0" rIns="0" bIns="0" rtlCol="0" anchor="ctr"/>
          <a:lstStyle/>
          <a:p>
            <a:pPr marL="0" indent="0">
              <a:buNone/>
            </a:pPr>
            <a:r>
              <a:rPr lang="en-US" sz="1900" b="1" dirty="0">
                <a:solidFill>
                  <a:srgbClr val="14213D"/>
                </a:solidFill>
                <a:latin typeface="Calibri" pitchFamily="34" charset="0"/>
                <a:ea typeface="Calibri" pitchFamily="34" charset="-122"/>
                <a:cs typeface="Calibri" pitchFamily="34" charset="-120"/>
              </a:rPr>
              <a:t>Limpieza</a:t>
            </a:r>
            <a:endParaRPr lang="en-US" sz="1900" dirty="0"/>
          </a:p>
        </p:txBody>
      </p:sp>
      <p:sp>
        <p:nvSpPr>
          <p:cNvPr id="13" name="Text 11"/>
          <p:cNvSpPr txBox="1"/>
          <p:nvPr/>
        </p:nvSpPr>
        <p:spPr>
          <a:xfrm>
            <a:off x="4658258" y="2304288"/>
            <a:ext cx="2875178" cy="640080"/>
          </a:xfrm>
          <a:prstGeom prst="rect">
            <a:avLst/>
          </a:prstGeom>
          <a:noFill/>
          <a:ln/>
        </p:spPr>
        <p:txBody>
          <a:bodyPr wrap="square" lIns="0" tIns="0" rIns="0" bIns="0" rtlCol="0" anchor="t"/>
          <a:lstStyle/>
          <a:p>
            <a:pPr marL="0" indent="0">
              <a:buNone/>
            </a:pPr>
            <a:r>
              <a:rPr lang="en-US" sz="1400" dirty="0">
                <a:solidFill>
                  <a:srgbClr val="3E4A5C"/>
                </a:solidFill>
                <a:latin typeface="Calibri" pitchFamily="34" charset="0"/>
                <a:ea typeface="Calibri" pitchFamily="34" charset="-122"/>
                <a:cs typeface="Calibri" pitchFamily="34" charset="-120"/>
              </a:rPr>
              <a:t>Filtros de precio, VI y moneyness; volumen faltante → 0</a:t>
            </a:r>
            <a:endParaRPr lang="en-US" sz="1400" dirty="0"/>
          </a:p>
        </p:txBody>
      </p:sp>
      <p:sp>
        <p:nvSpPr>
          <p:cNvPr id="14" name="Shape 12"/>
          <p:cNvSpPr/>
          <p:nvPr/>
        </p:nvSpPr>
        <p:spPr>
          <a:xfrm>
            <a:off x="7871765" y="2217420"/>
            <a:ext cx="283464" cy="0"/>
          </a:xfrm>
          <a:prstGeom prst="line">
            <a:avLst/>
          </a:prstGeom>
          <a:noFill/>
          <a:ln w="25400">
            <a:solidFill>
              <a:srgbClr val="9AA3AE"/>
            </a:solidFill>
            <a:prstDash val="solid"/>
            <a:tailEnd type="triangle"/>
          </a:ln>
        </p:spPr>
        <p:txBody>
          <a:bodyPr/>
          <a:lstStyle/>
          <a:p>
            <a:endParaRPr lang="es-MX"/>
          </a:p>
        </p:txBody>
      </p:sp>
      <p:sp>
        <p:nvSpPr>
          <p:cNvPr id="15" name="Shape 13"/>
          <p:cNvSpPr/>
          <p:nvPr/>
        </p:nvSpPr>
        <p:spPr>
          <a:xfrm>
            <a:off x="8219237" y="1371600"/>
            <a:ext cx="3423818" cy="1691640"/>
          </a:xfrm>
          <a:prstGeom prst="roundRect">
            <a:avLst>
              <a:gd name="adj" fmla="val 6486"/>
            </a:avLst>
          </a:prstGeom>
          <a:solidFill>
            <a:srgbClr val="ECE7DC"/>
          </a:solidFill>
          <a:ln w="12700">
            <a:solidFill>
              <a:srgbClr val="ECE7DC"/>
            </a:solidFill>
            <a:prstDash val="solid"/>
          </a:ln>
        </p:spPr>
        <p:txBody>
          <a:bodyPr/>
          <a:lstStyle/>
          <a:p>
            <a:endParaRPr lang="es-MX"/>
          </a:p>
        </p:txBody>
      </p:sp>
      <p:sp>
        <p:nvSpPr>
          <p:cNvPr id="16" name="Text 14"/>
          <p:cNvSpPr txBox="1"/>
          <p:nvPr/>
        </p:nvSpPr>
        <p:spPr>
          <a:xfrm>
            <a:off x="8493557" y="1572768"/>
            <a:ext cx="2875178" cy="274320"/>
          </a:xfrm>
          <a:prstGeom prst="rect">
            <a:avLst/>
          </a:prstGeom>
          <a:noFill/>
          <a:ln/>
        </p:spPr>
        <p:txBody>
          <a:bodyPr wrap="square" lIns="0" tIns="0" rIns="0" bIns="0" rtlCol="0" anchor="ctr"/>
          <a:lstStyle/>
          <a:p>
            <a:pPr marL="0" indent="0">
              <a:buNone/>
            </a:pPr>
            <a:r>
              <a:rPr lang="en-US" sz="1200" b="1" dirty="0">
                <a:solidFill>
                  <a:srgbClr val="1F7A8C"/>
                </a:solidFill>
                <a:latin typeface="Calibri" pitchFamily="34" charset="0"/>
                <a:ea typeface="Calibri" pitchFamily="34" charset="-122"/>
                <a:cs typeface="Calibri" pitchFamily="34" charset="-120"/>
              </a:rPr>
              <a:t>PASO 3</a:t>
            </a:r>
            <a:endParaRPr lang="en-US" sz="1200" dirty="0"/>
          </a:p>
        </p:txBody>
      </p:sp>
      <p:sp>
        <p:nvSpPr>
          <p:cNvPr id="17" name="Text 15"/>
          <p:cNvSpPr txBox="1"/>
          <p:nvPr/>
        </p:nvSpPr>
        <p:spPr>
          <a:xfrm>
            <a:off x="8493557" y="1874520"/>
            <a:ext cx="2875178" cy="411480"/>
          </a:xfrm>
          <a:prstGeom prst="rect">
            <a:avLst/>
          </a:prstGeom>
          <a:noFill/>
          <a:ln/>
        </p:spPr>
        <p:txBody>
          <a:bodyPr wrap="square" lIns="0" tIns="0" rIns="0" bIns="0" rtlCol="0" anchor="ctr"/>
          <a:lstStyle/>
          <a:p>
            <a:pPr marL="0" indent="0">
              <a:buNone/>
            </a:pPr>
            <a:r>
              <a:rPr lang="en-US" sz="1900" b="1" dirty="0">
                <a:solidFill>
                  <a:srgbClr val="14213D"/>
                </a:solidFill>
                <a:latin typeface="Calibri" pitchFamily="34" charset="0"/>
                <a:ea typeface="Calibri" pitchFamily="34" charset="-122"/>
                <a:cs typeface="Calibri" pitchFamily="34" charset="-120"/>
              </a:rPr>
              <a:t>Transformación</a:t>
            </a:r>
            <a:endParaRPr lang="en-US" sz="1900" dirty="0"/>
          </a:p>
        </p:txBody>
      </p:sp>
      <p:sp>
        <p:nvSpPr>
          <p:cNvPr id="18" name="Text 16"/>
          <p:cNvSpPr txBox="1"/>
          <p:nvPr/>
        </p:nvSpPr>
        <p:spPr>
          <a:xfrm>
            <a:off x="8493557" y="2304288"/>
            <a:ext cx="2875178" cy="640080"/>
          </a:xfrm>
          <a:prstGeom prst="rect">
            <a:avLst/>
          </a:prstGeom>
          <a:noFill/>
          <a:ln/>
        </p:spPr>
        <p:txBody>
          <a:bodyPr wrap="square" lIns="0" tIns="0" rIns="0" bIns="0" rtlCol="0" anchor="t"/>
          <a:lstStyle/>
          <a:p>
            <a:pPr marL="0" indent="0">
              <a:buNone/>
            </a:pPr>
            <a:r>
              <a:rPr lang="en-US" sz="1400" dirty="0">
                <a:solidFill>
                  <a:srgbClr val="3E4A5C"/>
                </a:solidFill>
                <a:latin typeface="Calibri" pitchFamily="34" charset="0"/>
                <a:ea typeface="Calibri" pitchFamily="34" charset="-122"/>
                <a:cs typeface="Calibri" pitchFamily="34" charset="-120"/>
              </a:rPr>
              <a:t>logm, T, log de liquidez, put × logm, log(VI)</a:t>
            </a:r>
            <a:endParaRPr lang="en-US" sz="1400" dirty="0"/>
          </a:p>
        </p:txBody>
      </p:sp>
      <p:sp>
        <p:nvSpPr>
          <p:cNvPr id="19" name="Shape 17"/>
          <p:cNvSpPr/>
          <p:nvPr/>
        </p:nvSpPr>
        <p:spPr>
          <a:xfrm>
            <a:off x="548640" y="3383280"/>
            <a:ext cx="3423818" cy="1691640"/>
          </a:xfrm>
          <a:prstGeom prst="roundRect">
            <a:avLst>
              <a:gd name="adj" fmla="val 6486"/>
            </a:avLst>
          </a:prstGeom>
          <a:solidFill>
            <a:srgbClr val="ECE7DC"/>
          </a:solidFill>
          <a:ln w="12700">
            <a:solidFill>
              <a:srgbClr val="ECE7DC"/>
            </a:solidFill>
            <a:prstDash val="solid"/>
          </a:ln>
        </p:spPr>
        <p:txBody>
          <a:bodyPr/>
          <a:lstStyle/>
          <a:p>
            <a:endParaRPr lang="es-MX"/>
          </a:p>
        </p:txBody>
      </p:sp>
      <p:sp>
        <p:nvSpPr>
          <p:cNvPr id="20" name="Text 18"/>
          <p:cNvSpPr txBox="1"/>
          <p:nvPr/>
        </p:nvSpPr>
        <p:spPr>
          <a:xfrm>
            <a:off x="822960" y="3584448"/>
            <a:ext cx="2875178" cy="274320"/>
          </a:xfrm>
          <a:prstGeom prst="rect">
            <a:avLst/>
          </a:prstGeom>
          <a:noFill/>
          <a:ln/>
        </p:spPr>
        <p:txBody>
          <a:bodyPr wrap="square" lIns="0" tIns="0" rIns="0" bIns="0" rtlCol="0" anchor="ctr"/>
          <a:lstStyle/>
          <a:p>
            <a:pPr marL="0" indent="0">
              <a:buNone/>
            </a:pPr>
            <a:r>
              <a:rPr lang="en-US" sz="1200" b="1" dirty="0">
                <a:solidFill>
                  <a:srgbClr val="1F7A8C"/>
                </a:solidFill>
                <a:latin typeface="Calibri" pitchFamily="34" charset="0"/>
                <a:ea typeface="Calibri" pitchFamily="34" charset="-122"/>
                <a:cs typeface="Calibri" pitchFamily="34" charset="-120"/>
              </a:rPr>
              <a:t>PASO 4</a:t>
            </a:r>
            <a:endParaRPr lang="en-US" sz="1200" dirty="0"/>
          </a:p>
        </p:txBody>
      </p:sp>
      <p:sp>
        <p:nvSpPr>
          <p:cNvPr id="21" name="Text 19"/>
          <p:cNvSpPr txBox="1"/>
          <p:nvPr/>
        </p:nvSpPr>
        <p:spPr>
          <a:xfrm>
            <a:off x="822960" y="3886200"/>
            <a:ext cx="2875178" cy="411480"/>
          </a:xfrm>
          <a:prstGeom prst="rect">
            <a:avLst/>
          </a:prstGeom>
          <a:noFill/>
          <a:ln/>
        </p:spPr>
        <p:txBody>
          <a:bodyPr wrap="square" lIns="0" tIns="0" rIns="0" bIns="0" rtlCol="0" anchor="ctr"/>
          <a:lstStyle/>
          <a:p>
            <a:pPr marL="0" indent="0">
              <a:buNone/>
            </a:pPr>
            <a:r>
              <a:rPr lang="en-US" sz="1900" b="1" dirty="0">
                <a:solidFill>
                  <a:srgbClr val="14213D"/>
                </a:solidFill>
                <a:latin typeface="Calibri" pitchFamily="34" charset="0"/>
                <a:ea typeface="Calibri" pitchFamily="34" charset="-122"/>
                <a:cs typeface="Calibri" pitchFamily="34" charset="-120"/>
              </a:rPr>
              <a:t>Train–test split</a:t>
            </a:r>
            <a:endParaRPr lang="en-US" sz="1900" dirty="0"/>
          </a:p>
        </p:txBody>
      </p:sp>
      <p:sp>
        <p:nvSpPr>
          <p:cNvPr id="22" name="Text 20"/>
          <p:cNvSpPr txBox="1"/>
          <p:nvPr/>
        </p:nvSpPr>
        <p:spPr>
          <a:xfrm>
            <a:off x="822960" y="4315968"/>
            <a:ext cx="2875178" cy="640080"/>
          </a:xfrm>
          <a:prstGeom prst="rect">
            <a:avLst/>
          </a:prstGeom>
          <a:noFill/>
          <a:ln/>
        </p:spPr>
        <p:txBody>
          <a:bodyPr wrap="square" lIns="0" tIns="0" rIns="0" bIns="0" rtlCol="0" anchor="t"/>
          <a:lstStyle/>
          <a:p>
            <a:pPr marL="0" indent="0">
              <a:buNone/>
            </a:pPr>
            <a:r>
              <a:rPr lang="en-US" sz="1400" dirty="0">
                <a:solidFill>
                  <a:srgbClr val="3E4A5C"/>
                </a:solidFill>
                <a:latin typeface="Calibri" pitchFamily="34" charset="0"/>
                <a:ea typeface="Calibri" pitchFamily="34" charset="-122"/>
                <a:cs typeface="Calibri" pitchFamily="34" charset="-120"/>
              </a:rPr>
              <a:t>75% entrenamiento, 25% prueba, semilla fija</a:t>
            </a:r>
            <a:endParaRPr lang="en-US" sz="1400" dirty="0"/>
          </a:p>
        </p:txBody>
      </p:sp>
      <p:sp>
        <p:nvSpPr>
          <p:cNvPr id="23" name="Shape 21"/>
          <p:cNvSpPr/>
          <p:nvPr/>
        </p:nvSpPr>
        <p:spPr>
          <a:xfrm>
            <a:off x="4036466" y="4229100"/>
            <a:ext cx="283464" cy="0"/>
          </a:xfrm>
          <a:prstGeom prst="line">
            <a:avLst/>
          </a:prstGeom>
          <a:noFill/>
          <a:ln w="25400">
            <a:solidFill>
              <a:srgbClr val="9AA3AE"/>
            </a:solidFill>
            <a:prstDash val="solid"/>
            <a:tailEnd type="triangle"/>
          </a:ln>
        </p:spPr>
        <p:txBody>
          <a:bodyPr/>
          <a:lstStyle/>
          <a:p>
            <a:endParaRPr lang="es-MX"/>
          </a:p>
        </p:txBody>
      </p:sp>
      <p:sp>
        <p:nvSpPr>
          <p:cNvPr id="24" name="Shape 22"/>
          <p:cNvSpPr/>
          <p:nvPr/>
        </p:nvSpPr>
        <p:spPr>
          <a:xfrm>
            <a:off x="4383938" y="3383280"/>
            <a:ext cx="3423818" cy="1691640"/>
          </a:xfrm>
          <a:prstGeom prst="roundRect">
            <a:avLst>
              <a:gd name="adj" fmla="val 6486"/>
            </a:avLst>
          </a:prstGeom>
          <a:solidFill>
            <a:srgbClr val="ECE7DC"/>
          </a:solidFill>
          <a:ln w="12700">
            <a:solidFill>
              <a:srgbClr val="ECE7DC"/>
            </a:solidFill>
            <a:prstDash val="solid"/>
          </a:ln>
        </p:spPr>
        <p:txBody>
          <a:bodyPr/>
          <a:lstStyle/>
          <a:p>
            <a:endParaRPr lang="es-MX"/>
          </a:p>
        </p:txBody>
      </p:sp>
      <p:sp>
        <p:nvSpPr>
          <p:cNvPr id="25" name="Text 23"/>
          <p:cNvSpPr txBox="1"/>
          <p:nvPr/>
        </p:nvSpPr>
        <p:spPr>
          <a:xfrm>
            <a:off x="4658258" y="3584448"/>
            <a:ext cx="2875178" cy="274320"/>
          </a:xfrm>
          <a:prstGeom prst="rect">
            <a:avLst/>
          </a:prstGeom>
          <a:noFill/>
          <a:ln/>
        </p:spPr>
        <p:txBody>
          <a:bodyPr wrap="square" lIns="0" tIns="0" rIns="0" bIns="0" rtlCol="0" anchor="ctr"/>
          <a:lstStyle/>
          <a:p>
            <a:pPr marL="0" indent="0">
              <a:buNone/>
            </a:pPr>
            <a:r>
              <a:rPr lang="en-US" sz="1200" b="1" dirty="0">
                <a:solidFill>
                  <a:srgbClr val="1F7A8C"/>
                </a:solidFill>
                <a:latin typeface="Calibri" pitchFamily="34" charset="0"/>
                <a:ea typeface="Calibri" pitchFamily="34" charset="-122"/>
                <a:cs typeface="Calibri" pitchFamily="34" charset="-120"/>
              </a:rPr>
              <a:t>PASO 5</a:t>
            </a:r>
            <a:endParaRPr lang="en-US" sz="1200" dirty="0"/>
          </a:p>
        </p:txBody>
      </p:sp>
      <p:sp>
        <p:nvSpPr>
          <p:cNvPr id="26" name="Text 24"/>
          <p:cNvSpPr txBox="1"/>
          <p:nvPr/>
        </p:nvSpPr>
        <p:spPr>
          <a:xfrm>
            <a:off x="4658258" y="3886200"/>
            <a:ext cx="2875178" cy="411480"/>
          </a:xfrm>
          <a:prstGeom prst="rect">
            <a:avLst/>
          </a:prstGeom>
          <a:noFill/>
          <a:ln/>
        </p:spPr>
        <p:txBody>
          <a:bodyPr wrap="square" lIns="0" tIns="0" rIns="0" bIns="0" rtlCol="0" anchor="ctr"/>
          <a:lstStyle/>
          <a:p>
            <a:pPr marL="0" indent="0">
              <a:buNone/>
            </a:pPr>
            <a:r>
              <a:rPr lang="en-US" sz="1900" b="1" dirty="0">
                <a:solidFill>
                  <a:srgbClr val="14213D"/>
                </a:solidFill>
                <a:latin typeface="Calibri" pitchFamily="34" charset="0"/>
                <a:ea typeface="Calibri" pitchFamily="34" charset="-122"/>
                <a:cs typeface="Calibri" pitchFamily="34" charset="-120"/>
              </a:rPr>
              <a:t>Preprocesador</a:t>
            </a:r>
            <a:endParaRPr lang="en-US" sz="1900" dirty="0"/>
          </a:p>
        </p:txBody>
      </p:sp>
      <p:sp>
        <p:nvSpPr>
          <p:cNvPr id="27" name="Text 25"/>
          <p:cNvSpPr txBox="1"/>
          <p:nvPr/>
        </p:nvSpPr>
        <p:spPr>
          <a:xfrm>
            <a:off x="4658258" y="4315968"/>
            <a:ext cx="2875178" cy="640080"/>
          </a:xfrm>
          <a:prstGeom prst="rect">
            <a:avLst/>
          </a:prstGeom>
          <a:noFill/>
          <a:ln/>
        </p:spPr>
        <p:txBody>
          <a:bodyPr wrap="square" lIns="0" tIns="0" rIns="0" bIns="0" rtlCol="0" anchor="t"/>
          <a:lstStyle/>
          <a:p>
            <a:pPr marL="0" indent="0">
              <a:buNone/>
            </a:pPr>
            <a:r>
              <a:rPr lang="en-US" sz="1400" dirty="0">
                <a:solidFill>
                  <a:srgbClr val="3E4A5C"/>
                </a:solidFill>
                <a:latin typeface="Calibri" pitchFamily="34" charset="0"/>
                <a:ea typeface="Calibri" pitchFamily="34" charset="-122"/>
                <a:cs typeface="Calibri" pitchFamily="34" charset="-120"/>
              </a:rPr>
              <a:t>Escalamiento → potencias; One-Hot para cualitativas</a:t>
            </a:r>
            <a:endParaRPr lang="en-US" sz="1400" dirty="0"/>
          </a:p>
        </p:txBody>
      </p:sp>
      <p:sp>
        <p:nvSpPr>
          <p:cNvPr id="28" name="Shape 26"/>
          <p:cNvSpPr/>
          <p:nvPr/>
        </p:nvSpPr>
        <p:spPr>
          <a:xfrm>
            <a:off x="7871765" y="4229100"/>
            <a:ext cx="283464" cy="0"/>
          </a:xfrm>
          <a:prstGeom prst="line">
            <a:avLst/>
          </a:prstGeom>
          <a:noFill/>
          <a:ln w="25400">
            <a:solidFill>
              <a:srgbClr val="9AA3AE"/>
            </a:solidFill>
            <a:prstDash val="solid"/>
            <a:tailEnd type="triangle"/>
          </a:ln>
        </p:spPr>
        <p:txBody>
          <a:bodyPr/>
          <a:lstStyle/>
          <a:p>
            <a:endParaRPr lang="es-MX"/>
          </a:p>
        </p:txBody>
      </p:sp>
      <p:sp>
        <p:nvSpPr>
          <p:cNvPr id="29" name="Shape 27"/>
          <p:cNvSpPr/>
          <p:nvPr/>
        </p:nvSpPr>
        <p:spPr>
          <a:xfrm>
            <a:off x="8219237" y="3383280"/>
            <a:ext cx="3423818" cy="1691640"/>
          </a:xfrm>
          <a:prstGeom prst="roundRect">
            <a:avLst>
              <a:gd name="adj" fmla="val 6486"/>
            </a:avLst>
          </a:prstGeom>
          <a:solidFill>
            <a:srgbClr val="ECE7DC"/>
          </a:solidFill>
          <a:ln w="12700">
            <a:solidFill>
              <a:srgbClr val="ECE7DC"/>
            </a:solidFill>
            <a:prstDash val="solid"/>
          </a:ln>
        </p:spPr>
        <p:txBody>
          <a:bodyPr/>
          <a:lstStyle/>
          <a:p>
            <a:endParaRPr lang="es-MX"/>
          </a:p>
        </p:txBody>
      </p:sp>
      <p:sp>
        <p:nvSpPr>
          <p:cNvPr id="30" name="Text 28"/>
          <p:cNvSpPr txBox="1"/>
          <p:nvPr/>
        </p:nvSpPr>
        <p:spPr>
          <a:xfrm>
            <a:off x="8493557" y="3584448"/>
            <a:ext cx="2875178" cy="274320"/>
          </a:xfrm>
          <a:prstGeom prst="rect">
            <a:avLst/>
          </a:prstGeom>
          <a:noFill/>
          <a:ln/>
        </p:spPr>
        <p:txBody>
          <a:bodyPr wrap="square" lIns="0" tIns="0" rIns="0" bIns="0" rtlCol="0" anchor="ctr"/>
          <a:lstStyle/>
          <a:p>
            <a:pPr marL="0" indent="0">
              <a:buNone/>
            </a:pPr>
            <a:r>
              <a:rPr lang="en-US" sz="1200" b="1" dirty="0">
                <a:solidFill>
                  <a:srgbClr val="1F7A8C"/>
                </a:solidFill>
                <a:latin typeface="Calibri" pitchFamily="34" charset="0"/>
                <a:ea typeface="Calibri" pitchFamily="34" charset="-122"/>
                <a:cs typeface="Calibri" pitchFamily="34" charset="-120"/>
              </a:rPr>
              <a:t>PASO 6</a:t>
            </a:r>
            <a:endParaRPr lang="en-US" sz="1200" dirty="0"/>
          </a:p>
        </p:txBody>
      </p:sp>
      <p:sp>
        <p:nvSpPr>
          <p:cNvPr id="31" name="Text 29"/>
          <p:cNvSpPr txBox="1"/>
          <p:nvPr/>
        </p:nvSpPr>
        <p:spPr>
          <a:xfrm>
            <a:off x="8493557" y="3886200"/>
            <a:ext cx="2875178" cy="411480"/>
          </a:xfrm>
          <a:prstGeom prst="rect">
            <a:avLst/>
          </a:prstGeom>
          <a:noFill/>
          <a:ln/>
        </p:spPr>
        <p:txBody>
          <a:bodyPr wrap="square" lIns="0" tIns="0" rIns="0" bIns="0" rtlCol="0" anchor="ctr"/>
          <a:lstStyle/>
          <a:p>
            <a:pPr marL="0" indent="0">
              <a:buNone/>
            </a:pPr>
            <a:r>
              <a:rPr lang="en-US" sz="1900" b="1" dirty="0">
                <a:solidFill>
                  <a:srgbClr val="14213D"/>
                </a:solidFill>
                <a:latin typeface="Calibri" pitchFamily="34" charset="0"/>
                <a:ea typeface="Calibri" pitchFamily="34" charset="-122"/>
                <a:cs typeface="Calibri" pitchFamily="34" charset="-120"/>
              </a:rPr>
              <a:t>Modelos y evaluación</a:t>
            </a:r>
            <a:endParaRPr lang="en-US" sz="1900" dirty="0"/>
          </a:p>
        </p:txBody>
      </p:sp>
      <p:sp>
        <p:nvSpPr>
          <p:cNvPr id="32" name="Text 30"/>
          <p:cNvSpPr txBox="1"/>
          <p:nvPr/>
        </p:nvSpPr>
        <p:spPr>
          <a:xfrm>
            <a:off x="8493557" y="4315968"/>
            <a:ext cx="2875178" cy="640080"/>
          </a:xfrm>
          <a:prstGeom prst="rect">
            <a:avLst/>
          </a:prstGeom>
          <a:noFill/>
          <a:ln/>
        </p:spPr>
        <p:txBody>
          <a:bodyPr wrap="square" lIns="0" tIns="0" rIns="0" bIns="0" rtlCol="0" anchor="t"/>
          <a:lstStyle/>
          <a:p>
            <a:pPr marL="0" indent="0">
              <a:buNone/>
            </a:pPr>
            <a:r>
              <a:rPr lang="en-US" sz="1400" dirty="0">
                <a:solidFill>
                  <a:srgbClr val="3E4A5C"/>
                </a:solidFill>
                <a:latin typeface="Calibri" pitchFamily="34" charset="0"/>
                <a:ea typeface="Calibri" pitchFamily="34" charset="-122"/>
                <a:cs typeface="Calibri" pitchFamily="34" charset="-120"/>
              </a:rPr>
              <a:t>α por GridSearchCV con 5 pliegues; R², residuos, significancia</a:t>
            </a:r>
            <a:endParaRPr lang="en-US" sz="1400" dirty="0"/>
          </a:p>
        </p:txBody>
      </p:sp>
      <p:sp>
        <p:nvSpPr>
          <p:cNvPr id="33" name="Text 31"/>
          <p:cNvSpPr txBox="1"/>
          <p:nvPr/>
        </p:nvSpPr>
        <p:spPr>
          <a:xfrm>
            <a:off x="548640" y="5303520"/>
            <a:ext cx="11094415" cy="731520"/>
          </a:xfrm>
          <a:prstGeom prst="rect">
            <a:avLst/>
          </a:prstGeom>
          <a:noFill/>
          <a:ln/>
        </p:spPr>
        <p:txBody>
          <a:bodyPr wrap="square" lIns="0" tIns="0" rIns="0" bIns="0" rtlCol="0" anchor="t"/>
          <a:lstStyle/>
          <a:p>
            <a:pPr marL="0" indent="0">
              <a:buNone/>
            </a:pPr>
            <a:r>
              <a:rPr lang="en-US" sz="1700" b="1" dirty="0">
                <a:solidFill>
                  <a:srgbClr val="14213D"/>
                </a:solidFill>
                <a:latin typeface="Calibri" pitchFamily="34" charset="0"/>
                <a:ea typeface="Calibri" pitchFamily="34" charset="-122"/>
                <a:cs typeface="Calibri" pitchFamily="34" charset="-120"/>
              </a:rPr>
              <a:t>El escalamiento y las potencias se ajustan solo con entrenamiento</a:t>
            </a:r>
            <a:r>
              <a:rPr lang="en-US" sz="1700" dirty="0">
                <a:solidFill>
                  <a:srgbClr val="14213D"/>
                </a:solidFill>
                <a:latin typeface="Calibri" pitchFamily="34" charset="0"/>
                <a:ea typeface="Calibri" pitchFamily="34" charset="-122"/>
                <a:cs typeface="Calibri" pitchFamily="34" charset="-120"/>
              </a:rPr>
              <a:t>, dentro del pipeline, para que el R² de prueba no esté inflado.</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F"/>
        </a:solidFill>
        <a:effectLst/>
      </p:bgPr>
    </p:bg>
    <p:spTree>
      <p:nvGrpSpPr>
        <p:cNvPr id="1" name=""/>
        <p:cNvGrpSpPr/>
        <p:nvPr/>
      </p:nvGrpSpPr>
      <p:grpSpPr>
        <a:xfrm>
          <a:off x="0" y="0"/>
          <a:ext cx="0" cy="0"/>
          <a:chOff x="0" y="0"/>
          <a:chExt cx="0" cy="0"/>
        </a:xfrm>
      </p:grpSpPr>
      <p:sp>
        <p:nvSpPr>
          <p:cNvPr id="2" name="Text 0"/>
          <p:cNvSpPr txBox="1"/>
          <p:nvPr/>
        </p:nvSpPr>
        <p:spPr>
          <a:xfrm>
            <a:off x="548640" y="6355080"/>
            <a:ext cx="7315200" cy="274320"/>
          </a:xfrm>
          <a:prstGeom prst="rect">
            <a:avLst/>
          </a:prstGeom>
          <a:noFill/>
          <a:ln/>
        </p:spPr>
        <p:txBody>
          <a:bodyPr wrap="square" lIns="0" tIns="0" rIns="0" bIns="0" rtlCol="0" anchor="ctr"/>
          <a:lstStyle/>
          <a:p>
            <a:pPr marL="0" indent="0">
              <a:buNone/>
            </a:pPr>
            <a:r>
              <a:rPr lang="en-US" sz="1100" dirty="0">
                <a:solidFill>
                  <a:srgbClr val="5B6472"/>
                </a:solidFill>
                <a:latin typeface="Calibri" pitchFamily="34" charset="0"/>
                <a:ea typeface="Calibri" pitchFamily="34" charset="-122"/>
                <a:cs typeface="Calibri" pitchFamily="34" charset="-120"/>
              </a:rPr>
              <a:t>Superficie de volatilidad implícita · Análisis de Regresión</a:t>
            </a:r>
            <a:endParaRPr lang="en-US" sz="1100" dirty="0"/>
          </a:p>
        </p:txBody>
      </p:sp>
      <p:sp>
        <p:nvSpPr>
          <p:cNvPr id="3" name="Text 1"/>
          <p:cNvSpPr txBox="1"/>
          <p:nvPr/>
        </p:nvSpPr>
        <p:spPr>
          <a:xfrm>
            <a:off x="10728655" y="6355080"/>
            <a:ext cx="914400" cy="274320"/>
          </a:xfrm>
          <a:prstGeom prst="rect">
            <a:avLst/>
          </a:prstGeom>
          <a:noFill/>
          <a:ln/>
        </p:spPr>
        <p:txBody>
          <a:bodyPr wrap="square" lIns="0" tIns="0" rIns="0" bIns="0" rtlCol="0" anchor="ctr"/>
          <a:lstStyle/>
          <a:p>
            <a:pPr marL="0" indent="0" algn="r">
              <a:buNone/>
            </a:pPr>
            <a:r>
              <a:rPr lang="en-US" sz="1100" dirty="0">
                <a:solidFill>
                  <a:srgbClr val="5B6472"/>
                </a:solidFill>
                <a:latin typeface="Calibri" pitchFamily="34" charset="0"/>
                <a:ea typeface="Calibri" pitchFamily="34" charset="-122"/>
                <a:cs typeface="Calibri" pitchFamily="34" charset="-120"/>
              </a:rPr>
              <a:t>7</a:t>
            </a:r>
            <a:endParaRPr lang="en-US" sz="1100" dirty="0"/>
          </a:p>
        </p:txBody>
      </p:sp>
      <p:sp>
        <p:nvSpPr>
          <p:cNvPr id="4" name="Text 2"/>
          <p:cNvSpPr txBox="1"/>
          <p:nvPr/>
        </p:nvSpPr>
        <p:spPr>
          <a:xfrm>
            <a:off x="548640" y="411480"/>
            <a:ext cx="11094415" cy="731520"/>
          </a:xfrm>
          <a:prstGeom prst="rect">
            <a:avLst/>
          </a:prstGeom>
          <a:noFill/>
          <a:ln/>
        </p:spPr>
        <p:txBody>
          <a:bodyPr wrap="square" lIns="0" tIns="0" rIns="0" bIns="0" rtlCol="0" anchor="t"/>
          <a:lstStyle/>
          <a:p>
            <a:pPr marL="0" indent="0">
              <a:buNone/>
            </a:pPr>
            <a:r>
              <a:rPr lang="en-US" sz="3400" b="1" dirty="0">
                <a:solidFill>
                  <a:srgbClr val="14213D"/>
                </a:solidFill>
                <a:latin typeface="Cambria" pitchFamily="34" charset="0"/>
                <a:ea typeface="Cambria" pitchFamily="34" charset="-122"/>
                <a:cs typeface="Cambria" pitchFamily="34" charset="-120"/>
              </a:rPr>
              <a:t>Tres modelos de complejidad creciente</a:t>
            </a:r>
            <a:endParaRPr lang="en-US" sz="3400" dirty="0"/>
          </a:p>
        </p:txBody>
      </p:sp>
      <p:sp>
        <p:nvSpPr>
          <p:cNvPr id="5" name="Shape 3"/>
          <p:cNvSpPr/>
          <p:nvPr/>
        </p:nvSpPr>
        <p:spPr>
          <a:xfrm>
            <a:off x="548640" y="1371600"/>
            <a:ext cx="3484778" cy="3840480"/>
          </a:xfrm>
          <a:prstGeom prst="roundRect">
            <a:avLst>
              <a:gd name="adj" fmla="val 3149"/>
            </a:avLst>
          </a:prstGeom>
          <a:solidFill>
            <a:srgbClr val="ECE7DC"/>
          </a:solidFill>
          <a:ln w="12700">
            <a:solidFill>
              <a:srgbClr val="ECE7DC"/>
            </a:solidFill>
            <a:prstDash val="solid"/>
          </a:ln>
        </p:spPr>
        <p:txBody>
          <a:bodyPr/>
          <a:lstStyle/>
          <a:p>
            <a:endParaRPr lang="es-MX"/>
          </a:p>
        </p:txBody>
      </p:sp>
      <p:sp>
        <p:nvSpPr>
          <p:cNvPr id="6" name="Text 4"/>
          <p:cNvSpPr txBox="1"/>
          <p:nvPr/>
        </p:nvSpPr>
        <p:spPr>
          <a:xfrm>
            <a:off x="868680" y="1645920"/>
            <a:ext cx="2844698" cy="274320"/>
          </a:xfrm>
          <a:prstGeom prst="rect">
            <a:avLst/>
          </a:prstGeom>
          <a:noFill/>
          <a:ln/>
        </p:spPr>
        <p:txBody>
          <a:bodyPr wrap="square" lIns="0" tIns="0" rIns="0" bIns="0" rtlCol="0" anchor="ctr"/>
          <a:lstStyle/>
          <a:p>
            <a:pPr marL="0" indent="0">
              <a:buNone/>
            </a:pPr>
            <a:r>
              <a:rPr lang="en-US" sz="1200" b="1" kern="0" spc="200" dirty="0">
                <a:solidFill>
                  <a:srgbClr val="1F7A8C"/>
                </a:solidFill>
                <a:latin typeface="Calibri" pitchFamily="34" charset="0"/>
                <a:ea typeface="Calibri" pitchFamily="34" charset="-122"/>
                <a:cs typeface="Calibri" pitchFamily="34" charset="-120"/>
              </a:rPr>
              <a:t>MODELO 1</a:t>
            </a:r>
            <a:endParaRPr lang="en-US" sz="1200" dirty="0"/>
          </a:p>
        </p:txBody>
      </p:sp>
      <p:sp>
        <p:nvSpPr>
          <p:cNvPr id="7" name="Text 5"/>
          <p:cNvSpPr txBox="1"/>
          <p:nvPr/>
        </p:nvSpPr>
        <p:spPr>
          <a:xfrm>
            <a:off x="868680" y="1965960"/>
            <a:ext cx="2844698" cy="5029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Lineal</a:t>
            </a:r>
            <a:endParaRPr lang="en-US" sz="2400" dirty="0"/>
          </a:p>
        </p:txBody>
      </p:sp>
      <p:sp>
        <p:nvSpPr>
          <p:cNvPr id="8" name="Text 6"/>
          <p:cNvSpPr txBox="1"/>
          <p:nvPr/>
        </p:nvSpPr>
        <p:spPr>
          <a:xfrm>
            <a:off x="868680" y="2560320"/>
            <a:ext cx="2844698" cy="1280160"/>
          </a:xfrm>
          <a:prstGeom prst="rect">
            <a:avLst/>
          </a:prstGeom>
          <a:noFill/>
          <a:ln/>
        </p:spPr>
        <p:txBody>
          <a:bodyPr wrap="square" lIns="0" tIns="0" rIns="0" bIns="0" rtlCol="0" anchor="t"/>
          <a:lstStyle/>
          <a:p>
            <a:pPr marL="0" indent="0">
              <a:buNone/>
            </a:pPr>
            <a:r>
              <a:rPr lang="en-US" sz="1500" dirty="0">
                <a:solidFill>
                  <a:srgbClr val="3E4A5C"/>
                </a:solidFill>
                <a:latin typeface="Calibri" pitchFamily="34" charset="0"/>
                <a:ea typeface="Calibri" pitchFamily="34" charset="-122"/>
                <a:cs typeface="Calibri" pitchFamily="34" charset="-120"/>
              </a:rPr>
              <a:t>logm, T y las dummies de subyacente y tipo. Todo aditivo.</a:t>
            </a:r>
            <a:endParaRPr lang="en-US" sz="1500" dirty="0"/>
          </a:p>
        </p:txBody>
      </p:sp>
      <p:sp>
        <p:nvSpPr>
          <p:cNvPr id="9" name="Text 7"/>
          <p:cNvSpPr txBox="1"/>
          <p:nvPr/>
        </p:nvSpPr>
        <p:spPr>
          <a:xfrm>
            <a:off x="868680" y="3931920"/>
            <a:ext cx="2844698" cy="731520"/>
          </a:xfrm>
          <a:prstGeom prst="rect">
            <a:avLst/>
          </a:prstGeom>
          <a:noFill/>
          <a:ln/>
        </p:spPr>
        <p:txBody>
          <a:bodyPr wrap="square" lIns="0" tIns="0" rIns="0" bIns="0" rtlCol="0" anchor="ctr"/>
          <a:lstStyle/>
          <a:p>
            <a:pPr marL="0" indent="0">
              <a:buNone/>
            </a:pPr>
            <a:r>
              <a:rPr lang="en-US" sz="4400" b="1" dirty="0">
                <a:solidFill>
                  <a:srgbClr val="14213D"/>
                </a:solidFill>
                <a:latin typeface="Cambria" pitchFamily="34" charset="0"/>
                <a:ea typeface="Cambria" pitchFamily="34" charset="-122"/>
                <a:cs typeface="Cambria" pitchFamily="34" charset="-120"/>
              </a:rPr>
              <a:t>8</a:t>
            </a:r>
            <a:endParaRPr lang="en-US" sz="4400" dirty="0"/>
          </a:p>
        </p:txBody>
      </p:sp>
      <p:sp>
        <p:nvSpPr>
          <p:cNvPr id="10" name="Text 8"/>
          <p:cNvSpPr txBox="1"/>
          <p:nvPr/>
        </p:nvSpPr>
        <p:spPr>
          <a:xfrm>
            <a:off x="868680" y="4663440"/>
            <a:ext cx="2844698" cy="320040"/>
          </a:xfrm>
          <a:prstGeom prst="rect">
            <a:avLst/>
          </a:prstGeom>
          <a:noFill/>
          <a:ln/>
        </p:spPr>
        <p:txBody>
          <a:bodyPr wrap="square" lIns="0" tIns="0" rIns="0" bIns="0" rtlCol="0" anchor="ctr"/>
          <a:lstStyle/>
          <a:p>
            <a:pPr marL="0" indent="0">
              <a:buNone/>
            </a:pPr>
            <a:r>
              <a:rPr lang="en-US" sz="1200" dirty="0">
                <a:solidFill>
                  <a:srgbClr val="5B6472"/>
                </a:solidFill>
                <a:latin typeface="Calibri" pitchFamily="34" charset="0"/>
                <a:ea typeface="Calibri" pitchFamily="34" charset="-122"/>
                <a:cs typeface="Calibri" pitchFamily="34" charset="-120"/>
              </a:rPr>
              <a:t>columnas en la matriz de diseño</a:t>
            </a:r>
            <a:endParaRPr lang="en-US" sz="1200" dirty="0"/>
          </a:p>
        </p:txBody>
      </p:sp>
      <p:sp>
        <p:nvSpPr>
          <p:cNvPr id="11" name="Shape 9"/>
          <p:cNvSpPr/>
          <p:nvPr/>
        </p:nvSpPr>
        <p:spPr>
          <a:xfrm>
            <a:off x="4353458" y="1371600"/>
            <a:ext cx="3484778" cy="3840480"/>
          </a:xfrm>
          <a:prstGeom prst="roundRect">
            <a:avLst>
              <a:gd name="adj" fmla="val 3149"/>
            </a:avLst>
          </a:prstGeom>
          <a:solidFill>
            <a:srgbClr val="ECE7DC"/>
          </a:solidFill>
          <a:ln w="12700">
            <a:solidFill>
              <a:srgbClr val="ECE7DC"/>
            </a:solidFill>
            <a:prstDash val="solid"/>
          </a:ln>
        </p:spPr>
        <p:txBody>
          <a:bodyPr/>
          <a:lstStyle/>
          <a:p>
            <a:endParaRPr lang="es-MX"/>
          </a:p>
        </p:txBody>
      </p:sp>
      <p:sp>
        <p:nvSpPr>
          <p:cNvPr id="12" name="Text 10"/>
          <p:cNvSpPr txBox="1"/>
          <p:nvPr/>
        </p:nvSpPr>
        <p:spPr>
          <a:xfrm>
            <a:off x="4673498" y="1645920"/>
            <a:ext cx="2844698" cy="274320"/>
          </a:xfrm>
          <a:prstGeom prst="rect">
            <a:avLst/>
          </a:prstGeom>
          <a:noFill/>
          <a:ln/>
        </p:spPr>
        <p:txBody>
          <a:bodyPr wrap="square" lIns="0" tIns="0" rIns="0" bIns="0" rtlCol="0" anchor="ctr"/>
          <a:lstStyle/>
          <a:p>
            <a:pPr marL="0" indent="0">
              <a:buNone/>
            </a:pPr>
            <a:r>
              <a:rPr lang="en-US" sz="1200" b="1" kern="0" spc="200" dirty="0">
                <a:solidFill>
                  <a:srgbClr val="1F7A8C"/>
                </a:solidFill>
                <a:latin typeface="Calibri" pitchFamily="34" charset="0"/>
                <a:ea typeface="Calibri" pitchFamily="34" charset="-122"/>
                <a:cs typeface="Calibri" pitchFamily="34" charset="-120"/>
              </a:rPr>
              <a:t>MODELO 2</a:t>
            </a:r>
            <a:endParaRPr lang="en-US" sz="1200" dirty="0"/>
          </a:p>
        </p:txBody>
      </p:sp>
      <p:sp>
        <p:nvSpPr>
          <p:cNvPr id="13" name="Text 11"/>
          <p:cNvSpPr txBox="1"/>
          <p:nvPr/>
        </p:nvSpPr>
        <p:spPr>
          <a:xfrm>
            <a:off x="4673498" y="1965960"/>
            <a:ext cx="2844698" cy="5029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Polinomial grado 3</a:t>
            </a:r>
            <a:endParaRPr lang="en-US" sz="2400" dirty="0"/>
          </a:p>
        </p:txBody>
      </p:sp>
      <p:sp>
        <p:nvSpPr>
          <p:cNvPr id="14" name="Text 12"/>
          <p:cNvSpPr txBox="1"/>
          <p:nvPr/>
        </p:nvSpPr>
        <p:spPr>
          <a:xfrm>
            <a:off x="4673498" y="2560320"/>
            <a:ext cx="2844698" cy="1280160"/>
          </a:xfrm>
          <a:prstGeom prst="rect">
            <a:avLst/>
          </a:prstGeom>
          <a:noFill/>
          <a:ln/>
        </p:spPr>
        <p:txBody>
          <a:bodyPr wrap="square" lIns="0" tIns="0" rIns="0" bIns="0" rtlCol="0" anchor="t"/>
          <a:lstStyle/>
          <a:p>
            <a:pPr marL="0" indent="0">
              <a:buNone/>
            </a:pPr>
            <a:r>
              <a:rPr lang="en-US" sz="1500" dirty="0">
                <a:solidFill>
                  <a:srgbClr val="3E4A5C"/>
                </a:solidFill>
                <a:latin typeface="Calibri" pitchFamily="34" charset="0"/>
                <a:ea typeface="Calibri" pitchFamily="34" charset="-122"/>
                <a:cs typeface="Calibri" pitchFamily="34" charset="-120"/>
              </a:rPr>
              <a:t>Potencias y productos de logm y T hasta grado 3, más la interacción put × logm.</a:t>
            </a:r>
            <a:endParaRPr lang="en-US" sz="1500" dirty="0"/>
          </a:p>
        </p:txBody>
      </p:sp>
      <p:sp>
        <p:nvSpPr>
          <p:cNvPr id="15" name="Text 13"/>
          <p:cNvSpPr txBox="1"/>
          <p:nvPr/>
        </p:nvSpPr>
        <p:spPr>
          <a:xfrm>
            <a:off x="4673498" y="3931920"/>
            <a:ext cx="2844698" cy="731520"/>
          </a:xfrm>
          <a:prstGeom prst="rect">
            <a:avLst/>
          </a:prstGeom>
          <a:noFill/>
          <a:ln/>
        </p:spPr>
        <p:txBody>
          <a:bodyPr wrap="square" lIns="0" tIns="0" rIns="0" bIns="0" rtlCol="0" anchor="ctr"/>
          <a:lstStyle/>
          <a:p>
            <a:pPr marL="0" indent="0">
              <a:buNone/>
            </a:pPr>
            <a:r>
              <a:rPr lang="en-US" sz="4400" b="1" dirty="0">
                <a:solidFill>
                  <a:srgbClr val="14213D"/>
                </a:solidFill>
                <a:latin typeface="Cambria" pitchFamily="34" charset="0"/>
                <a:ea typeface="Cambria" pitchFamily="34" charset="-122"/>
                <a:cs typeface="Cambria" pitchFamily="34" charset="-120"/>
              </a:rPr>
              <a:t>16</a:t>
            </a:r>
            <a:endParaRPr lang="en-US" sz="4400" dirty="0"/>
          </a:p>
        </p:txBody>
      </p:sp>
      <p:sp>
        <p:nvSpPr>
          <p:cNvPr id="16" name="Text 14"/>
          <p:cNvSpPr txBox="1"/>
          <p:nvPr/>
        </p:nvSpPr>
        <p:spPr>
          <a:xfrm>
            <a:off x="4673498" y="4663440"/>
            <a:ext cx="2844698" cy="320040"/>
          </a:xfrm>
          <a:prstGeom prst="rect">
            <a:avLst/>
          </a:prstGeom>
          <a:noFill/>
          <a:ln/>
        </p:spPr>
        <p:txBody>
          <a:bodyPr wrap="square" lIns="0" tIns="0" rIns="0" bIns="0" rtlCol="0" anchor="ctr"/>
          <a:lstStyle/>
          <a:p>
            <a:pPr marL="0" indent="0">
              <a:buNone/>
            </a:pPr>
            <a:r>
              <a:rPr lang="en-US" sz="1200" dirty="0">
                <a:solidFill>
                  <a:srgbClr val="5B6472"/>
                </a:solidFill>
                <a:latin typeface="Calibri" pitchFamily="34" charset="0"/>
                <a:ea typeface="Calibri" pitchFamily="34" charset="-122"/>
                <a:cs typeface="Calibri" pitchFamily="34" charset="-120"/>
              </a:rPr>
              <a:t>columnas en la matriz de diseño</a:t>
            </a:r>
            <a:endParaRPr lang="en-US" sz="1200" dirty="0"/>
          </a:p>
        </p:txBody>
      </p:sp>
      <p:sp>
        <p:nvSpPr>
          <p:cNvPr id="17" name="Shape 15"/>
          <p:cNvSpPr/>
          <p:nvPr/>
        </p:nvSpPr>
        <p:spPr>
          <a:xfrm>
            <a:off x="8158277" y="1371600"/>
            <a:ext cx="3484778" cy="3840480"/>
          </a:xfrm>
          <a:prstGeom prst="roundRect">
            <a:avLst>
              <a:gd name="adj" fmla="val 3149"/>
            </a:avLst>
          </a:prstGeom>
          <a:solidFill>
            <a:srgbClr val="ECE7DC"/>
          </a:solidFill>
          <a:ln w="12700">
            <a:solidFill>
              <a:srgbClr val="ECE7DC"/>
            </a:solidFill>
            <a:prstDash val="solid"/>
          </a:ln>
        </p:spPr>
        <p:txBody>
          <a:bodyPr/>
          <a:lstStyle/>
          <a:p>
            <a:endParaRPr lang="es-MX"/>
          </a:p>
        </p:txBody>
      </p:sp>
      <p:sp>
        <p:nvSpPr>
          <p:cNvPr id="18" name="Text 16"/>
          <p:cNvSpPr txBox="1"/>
          <p:nvPr/>
        </p:nvSpPr>
        <p:spPr>
          <a:xfrm>
            <a:off x="8478317" y="1645920"/>
            <a:ext cx="2844698" cy="274320"/>
          </a:xfrm>
          <a:prstGeom prst="rect">
            <a:avLst/>
          </a:prstGeom>
          <a:noFill/>
          <a:ln/>
        </p:spPr>
        <p:txBody>
          <a:bodyPr wrap="square" lIns="0" tIns="0" rIns="0" bIns="0" rtlCol="0" anchor="ctr"/>
          <a:lstStyle/>
          <a:p>
            <a:pPr marL="0" indent="0">
              <a:buNone/>
            </a:pPr>
            <a:r>
              <a:rPr lang="en-US" sz="1200" b="1" kern="0" spc="200" dirty="0">
                <a:solidFill>
                  <a:srgbClr val="1F7A8C"/>
                </a:solidFill>
                <a:latin typeface="Calibri" pitchFamily="34" charset="0"/>
                <a:ea typeface="Calibri" pitchFamily="34" charset="-122"/>
                <a:cs typeface="Calibri" pitchFamily="34" charset="-120"/>
              </a:rPr>
              <a:t>MODELO 3</a:t>
            </a:r>
            <a:endParaRPr lang="en-US" sz="1200" dirty="0"/>
          </a:p>
        </p:txBody>
      </p:sp>
      <p:sp>
        <p:nvSpPr>
          <p:cNvPr id="19" name="Text 17"/>
          <p:cNvSpPr txBox="1"/>
          <p:nvPr/>
        </p:nvSpPr>
        <p:spPr>
          <a:xfrm>
            <a:off x="8478317" y="1965960"/>
            <a:ext cx="2844698" cy="502920"/>
          </a:xfrm>
          <a:prstGeom prst="rect">
            <a:avLst/>
          </a:prstGeom>
          <a:noFill/>
          <a:ln/>
        </p:spPr>
        <p:txBody>
          <a:bodyPr wrap="square" lIns="0" tIns="0" rIns="0" bIns="0" rtlCol="0" anchor="ctr"/>
          <a:lstStyle/>
          <a:p>
            <a:pPr marL="0" indent="0">
              <a:buNone/>
            </a:pPr>
            <a:r>
              <a:rPr lang="en-US" sz="2400" b="1" dirty="0">
                <a:solidFill>
                  <a:srgbClr val="14213D"/>
                </a:solidFill>
                <a:latin typeface="Cambria" pitchFamily="34" charset="0"/>
                <a:ea typeface="Cambria" pitchFamily="34" charset="-122"/>
                <a:cs typeface="Cambria" pitchFamily="34" charset="-120"/>
              </a:rPr>
              <a:t>Polinomial grado 6</a:t>
            </a:r>
            <a:endParaRPr lang="en-US" sz="2400" dirty="0"/>
          </a:p>
        </p:txBody>
      </p:sp>
      <p:sp>
        <p:nvSpPr>
          <p:cNvPr id="20" name="Text 18"/>
          <p:cNvSpPr txBox="1"/>
          <p:nvPr/>
        </p:nvSpPr>
        <p:spPr>
          <a:xfrm>
            <a:off x="8478317" y="2560320"/>
            <a:ext cx="2844698" cy="1280160"/>
          </a:xfrm>
          <a:prstGeom prst="rect">
            <a:avLst/>
          </a:prstGeom>
          <a:noFill/>
          <a:ln/>
        </p:spPr>
        <p:txBody>
          <a:bodyPr wrap="square" lIns="0" tIns="0" rIns="0" bIns="0" rtlCol="0" anchor="t"/>
          <a:lstStyle/>
          <a:p>
            <a:pPr marL="0" indent="0">
              <a:buNone/>
            </a:pPr>
            <a:r>
              <a:rPr lang="en-US" sz="1500" dirty="0">
                <a:solidFill>
                  <a:srgbClr val="3E4A5C"/>
                </a:solidFill>
                <a:latin typeface="Calibri" pitchFamily="34" charset="0"/>
                <a:ea typeface="Calibri" pitchFamily="34" charset="-122"/>
                <a:cs typeface="Calibri" pitchFamily="34" charset="-120"/>
              </a:rPr>
              <a:t>Agrega volumen e interés abierto y sube a grado 6. Diseñado para que la regularización importe.</a:t>
            </a:r>
            <a:endParaRPr lang="en-US" sz="1500" dirty="0"/>
          </a:p>
        </p:txBody>
      </p:sp>
      <p:sp>
        <p:nvSpPr>
          <p:cNvPr id="21" name="Text 19"/>
          <p:cNvSpPr txBox="1"/>
          <p:nvPr/>
        </p:nvSpPr>
        <p:spPr>
          <a:xfrm>
            <a:off x="8478317" y="3931920"/>
            <a:ext cx="2844698" cy="731520"/>
          </a:xfrm>
          <a:prstGeom prst="rect">
            <a:avLst/>
          </a:prstGeom>
          <a:noFill/>
          <a:ln/>
        </p:spPr>
        <p:txBody>
          <a:bodyPr wrap="square" lIns="0" tIns="0" rIns="0" bIns="0" rtlCol="0" anchor="ctr"/>
          <a:lstStyle/>
          <a:p>
            <a:pPr marL="0" indent="0">
              <a:buNone/>
            </a:pPr>
            <a:r>
              <a:rPr lang="en-US" sz="4400" b="1" dirty="0">
                <a:solidFill>
                  <a:srgbClr val="14213D"/>
                </a:solidFill>
                <a:latin typeface="Cambria" pitchFamily="34" charset="0"/>
                <a:ea typeface="Cambria" pitchFamily="34" charset="-122"/>
                <a:cs typeface="Cambria" pitchFamily="34" charset="-120"/>
              </a:rPr>
              <a:t>216</a:t>
            </a:r>
            <a:endParaRPr lang="en-US" sz="4400" dirty="0"/>
          </a:p>
        </p:txBody>
      </p:sp>
      <p:sp>
        <p:nvSpPr>
          <p:cNvPr id="22" name="Text 20"/>
          <p:cNvSpPr txBox="1"/>
          <p:nvPr/>
        </p:nvSpPr>
        <p:spPr>
          <a:xfrm>
            <a:off x="8478317" y="4663440"/>
            <a:ext cx="2844698" cy="320040"/>
          </a:xfrm>
          <a:prstGeom prst="rect">
            <a:avLst/>
          </a:prstGeom>
          <a:noFill/>
          <a:ln/>
        </p:spPr>
        <p:txBody>
          <a:bodyPr wrap="square" lIns="0" tIns="0" rIns="0" bIns="0" rtlCol="0" anchor="ctr"/>
          <a:lstStyle/>
          <a:p>
            <a:pPr marL="0" indent="0">
              <a:buNone/>
            </a:pPr>
            <a:r>
              <a:rPr lang="en-US" sz="1200" dirty="0">
                <a:solidFill>
                  <a:srgbClr val="5B6472"/>
                </a:solidFill>
                <a:latin typeface="Calibri" pitchFamily="34" charset="0"/>
                <a:ea typeface="Calibri" pitchFamily="34" charset="-122"/>
                <a:cs typeface="Calibri" pitchFamily="34" charset="-120"/>
              </a:rPr>
              <a:t>columnas en la matriz de diseño</a:t>
            </a:r>
            <a:endParaRPr lang="en-US" sz="1200" dirty="0"/>
          </a:p>
        </p:txBody>
      </p:sp>
      <p:sp>
        <p:nvSpPr>
          <p:cNvPr id="23" name="Text 21"/>
          <p:cNvSpPr txBox="1"/>
          <p:nvPr/>
        </p:nvSpPr>
        <p:spPr>
          <a:xfrm>
            <a:off x="548640" y="5486400"/>
            <a:ext cx="11094415" cy="457200"/>
          </a:xfrm>
          <a:prstGeom prst="rect">
            <a:avLst/>
          </a:prstGeom>
          <a:noFill/>
          <a:ln/>
        </p:spPr>
        <p:txBody>
          <a:bodyPr wrap="square" lIns="0" tIns="0" rIns="0" bIns="0" rtlCol="0" anchor="ctr"/>
          <a:lstStyle/>
          <a:p>
            <a:pPr marL="0" indent="0">
              <a:buNone/>
            </a:pPr>
            <a:r>
              <a:rPr lang="en-US" sz="1800" dirty="0">
                <a:solidFill>
                  <a:srgbClr val="14213D"/>
                </a:solidFill>
                <a:latin typeface="Calibri" pitchFamily="34" charset="0"/>
                <a:ea typeface="Calibri" pitchFamily="34" charset="-122"/>
                <a:cs typeface="Calibri" pitchFamily="34" charset="-120"/>
              </a:rPr>
              <a:t>Cada uno en 4 versiones: </a:t>
            </a:r>
            <a:r>
              <a:rPr lang="en-US" sz="1800" b="1" dirty="0">
                <a:solidFill>
                  <a:srgbClr val="14213D"/>
                </a:solidFill>
                <a:latin typeface="Calibri" pitchFamily="34" charset="0"/>
                <a:ea typeface="Calibri" pitchFamily="34" charset="-122"/>
                <a:cs typeface="Calibri" pitchFamily="34" charset="-120"/>
              </a:rPr>
              <a:t>sin penalización · Ridge · Lasso · ElasticNet</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F"/>
        </a:solidFill>
        <a:effectLst/>
      </p:bgPr>
    </p:bg>
    <p:spTree>
      <p:nvGrpSpPr>
        <p:cNvPr id="1" name=""/>
        <p:cNvGrpSpPr/>
        <p:nvPr/>
      </p:nvGrpSpPr>
      <p:grpSpPr>
        <a:xfrm>
          <a:off x="0" y="0"/>
          <a:ext cx="0" cy="0"/>
          <a:chOff x="0" y="0"/>
          <a:chExt cx="0" cy="0"/>
        </a:xfrm>
      </p:grpSpPr>
      <p:sp>
        <p:nvSpPr>
          <p:cNvPr id="2" name="Text 0"/>
          <p:cNvSpPr txBox="1"/>
          <p:nvPr/>
        </p:nvSpPr>
        <p:spPr>
          <a:xfrm>
            <a:off x="548640" y="6355080"/>
            <a:ext cx="7315200" cy="274320"/>
          </a:xfrm>
          <a:prstGeom prst="rect">
            <a:avLst/>
          </a:prstGeom>
          <a:noFill/>
          <a:ln/>
        </p:spPr>
        <p:txBody>
          <a:bodyPr wrap="square" lIns="0" tIns="0" rIns="0" bIns="0" rtlCol="0" anchor="ctr"/>
          <a:lstStyle/>
          <a:p>
            <a:pPr marL="0" indent="0">
              <a:buNone/>
            </a:pPr>
            <a:r>
              <a:rPr lang="en-US" sz="1100" dirty="0">
                <a:solidFill>
                  <a:srgbClr val="5B6472"/>
                </a:solidFill>
                <a:latin typeface="Calibri" pitchFamily="34" charset="0"/>
                <a:ea typeface="Calibri" pitchFamily="34" charset="-122"/>
                <a:cs typeface="Calibri" pitchFamily="34" charset="-120"/>
              </a:rPr>
              <a:t>Superficie de volatilidad implícita · Análisis de Regresión</a:t>
            </a:r>
            <a:endParaRPr lang="en-US" sz="1100" dirty="0"/>
          </a:p>
        </p:txBody>
      </p:sp>
      <p:sp>
        <p:nvSpPr>
          <p:cNvPr id="3" name="Text 1"/>
          <p:cNvSpPr txBox="1"/>
          <p:nvPr/>
        </p:nvSpPr>
        <p:spPr>
          <a:xfrm>
            <a:off x="10728655" y="6355080"/>
            <a:ext cx="914400" cy="274320"/>
          </a:xfrm>
          <a:prstGeom prst="rect">
            <a:avLst/>
          </a:prstGeom>
          <a:noFill/>
          <a:ln/>
        </p:spPr>
        <p:txBody>
          <a:bodyPr wrap="square" lIns="0" tIns="0" rIns="0" bIns="0" rtlCol="0" anchor="ctr"/>
          <a:lstStyle/>
          <a:p>
            <a:pPr marL="0" indent="0" algn="r">
              <a:buNone/>
            </a:pPr>
            <a:r>
              <a:rPr lang="en-US" sz="1100" dirty="0">
                <a:solidFill>
                  <a:srgbClr val="5B6472"/>
                </a:solidFill>
                <a:latin typeface="Calibri" pitchFamily="34" charset="0"/>
                <a:ea typeface="Calibri" pitchFamily="34" charset="-122"/>
                <a:cs typeface="Calibri" pitchFamily="34" charset="-120"/>
              </a:rPr>
              <a:t>8</a:t>
            </a:r>
            <a:endParaRPr lang="en-US" sz="1100" dirty="0"/>
          </a:p>
        </p:txBody>
      </p:sp>
      <p:sp>
        <p:nvSpPr>
          <p:cNvPr id="4" name="Text 2"/>
          <p:cNvSpPr txBox="1"/>
          <p:nvPr/>
        </p:nvSpPr>
        <p:spPr>
          <a:xfrm>
            <a:off x="548640" y="411480"/>
            <a:ext cx="11094415" cy="731520"/>
          </a:xfrm>
          <a:prstGeom prst="rect">
            <a:avLst/>
          </a:prstGeom>
          <a:noFill/>
          <a:ln/>
        </p:spPr>
        <p:txBody>
          <a:bodyPr wrap="square" lIns="0" tIns="0" rIns="0" bIns="0" rtlCol="0" anchor="t"/>
          <a:lstStyle/>
          <a:p>
            <a:pPr marL="0" indent="0">
              <a:buNone/>
            </a:pPr>
            <a:r>
              <a:rPr lang="en-US" sz="3400" b="1" dirty="0">
                <a:solidFill>
                  <a:srgbClr val="14213D"/>
                </a:solidFill>
                <a:latin typeface="Cambria" pitchFamily="34" charset="0"/>
                <a:ea typeface="Cambria" pitchFamily="34" charset="-122"/>
                <a:cs typeface="Cambria" pitchFamily="34" charset="-120"/>
              </a:rPr>
              <a:t>Cada modelo nace de los residuos del anterior</a:t>
            </a:r>
            <a:endParaRPr lang="en-US" sz="3400" dirty="0"/>
          </a:p>
        </p:txBody>
      </p:sp>
      <p:pic>
        <p:nvPicPr>
          <p:cNvPr id="5" name="Image 0" descr="Residuos contra log-moneyness para los tres modelos: el Modelo 1 muestra una U, el Modelo 2 una U mucho menor y el Modelo 3 residuos planos alrededor de cero"/>
          <p:cNvPicPr>
            <a:picLocks noChangeAspect="1"/>
          </p:cNvPicPr>
          <p:nvPr/>
        </p:nvPicPr>
        <p:blipFill>
          <a:blip r:embed="rId3"/>
          <a:stretch>
            <a:fillRect/>
          </a:stretch>
        </p:blipFill>
        <p:spPr>
          <a:xfrm>
            <a:off x="548640" y="1325880"/>
            <a:ext cx="11094415" cy="3381155"/>
          </a:xfrm>
          <a:prstGeom prst="rect">
            <a:avLst/>
          </a:prstGeom>
        </p:spPr>
      </p:pic>
      <p:sp>
        <p:nvSpPr>
          <p:cNvPr id="6" name="Text 3"/>
          <p:cNvSpPr txBox="1"/>
          <p:nvPr/>
        </p:nvSpPr>
        <p:spPr>
          <a:xfrm>
            <a:off x="548640" y="4935635"/>
            <a:ext cx="3454298" cy="274320"/>
          </a:xfrm>
          <a:prstGeom prst="rect">
            <a:avLst/>
          </a:prstGeom>
          <a:noFill/>
          <a:ln/>
        </p:spPr>
        <p:txBody>
          <a:bodyPr wrap="square" lIns="0" tIns="0" rIns="0" bIns="0" rtlCol="0" anchor="ctr"/>
          <a:lstStyle/>
          <a:p>
            <a:pPr marL="0" indent="0">
              <a:buNone/>
            </a:pPr>
            <a:r>
              <a:rPr lang="en-US" sz="1300" b="1" dirty="0">
                <a:solidFill>
                  <a:srgbClr val="1F7A8C"/>
                </a:solidFill>
                <a:latin typeface="Calibri" pitchFamily="34" charset="0"/>
                <a:ea typeface="Calibri" pitchFamily="34" charset="-122"/>
                <a:cs typeface="Calibri" pitchFamily="34" charset="-120"/>
              </a:rPr>
              <a:t>Modelo 1</a:t>
            </a:r>
            <a:endParaRPr lang="en-US" sz="1300" dirty="0"/>
          </a:p>
        </p:txBody>
      </p:sp>
      <p:sp>
        <p:nvSpPr>
          <p:cNvPr id="7" name="Text 4"/>
          <p:cNvSpPr txBox="1"/>
          <p:nvPr/>
        </p:nvSpPr>
        <p:spPr>
          <a:xfrm>
            <a:off x="548640" y="5255675"/>
            <a:ext cx="3454298" cy="731520"/>
          </a:xfrm>
          <a:prstGeom prst="rect">
            <a:avLst/>
          </a:prstGeom>
          <a:noFill/>
          <a:ln/>
        </p:spPr>
        <p:txBody>
          <a:bodyPr wrap="square" lIns="0" tIns="0" rIns="0" bIns="0" rtlCol="0" anchor="t"/>
          <a:lstStyle/>
          <a:p>
            <a:pPr marL="0" indent="0">
              <a:buNone/>
            </a:pPr>
            <a:r>
              <a:rPr lang="en-US" sz="1500" dirty="0">
                <a:solidFill>
                  <a:srgbClr val="3E4A5C"/>
                </a:solidFill>
                <a:latin typeface="Calibri" pitchFamily="34" charset="0"/>
                <a:ea typeface="Calibri" pitchFamily="34" charset="-122"/>
                <a:cs typeface="Calibri" pitchFamily="34" charset="-120"/>
              </a:rPr>
              <a:t>Una U contra el moneyness: falta curvatura → polinomio e interacción</a:t>
            </a:r>
            <a:endParaRPr lang="en-US" sz="1500" dirty="0"/>
          </a:p>
        </p:txBody>
      </p:sp>
      <p:sp>
        <p:nvSpPr>
          <p:cNvPr id="8" name="Text 5"/>
          <p:cNvSpPr txBox="1"/>
          <p:nvPr/>
        </p:nvSpPr>
        <p:spPr>
          <a:xfrm>
            <a:off x="4368698" y="4935635"/>
            <a:ext cx="3454298" cy="274320"/>
          </a:xfrm>
          <a:prstGeom prst="rect">
            <a:avLst/>
          </a:prstGeom>
          <a:noFill/>
          <a:ln/>
        </p:spPr>
        <p:txBody>
          <a:bodyPr wrap="square" lIns="0" tIns="0" rIns="0" bIns="0" rtlCol="0" anchor="ctr"/>
          <a:lstStyle/>
          <a:p>
            <a:pPr marL="0" indent="0">
              <a:buNone/>
            </a:pPr>
            <a:r>
              <a:rPr lang="en-US" sz="1300" b="1" dirty="0">
                <a:solidFill>
                  <a:srgbClr val="1F7A8C"/>
                </a:solidFill>
                <a:latin typeface="Calibri" pitchFamily="34" charset="0"/>
                <a:ea typeface="Calibri" pitchFamily="34" charset="-122"/>
                <a:cs typeface="Calibri" pitchFamily="34" charset="-120"/>
              </a:rPr>
              <a:t>Modelo 2</a:t>
            </a:r>
            <a:endParaRPr lang="en-US" sz="1300" dirty="0"/>
          </a:p>
        </p:txBody>
      </p:sp>
      <p:sp>
        <p:nvSpPr>
          <p:cNvPr id="9" name="Text 6"/>
          <p:cNvSpPr txBox="1"/>
          <p:nvPr/>
        </p:nvSpPr>
        <p:spPr>
          <a:xfrm>
            <a:off x="4368698" y="5255675"/>
            <a:ext cx="3454298" cy="731520"/>
          </a:xfrm>
          <a:prstGeom prst="rect">
            <a:avLst/>
          </a:prstGeom>
          <a:noFill/>
          <a:ln/>
        </p:spPr>
        <p:txBody>
          <a:bodyPr wrap="square" lIns="0" tIns="0" rIns="0" bIns="0" rtlCol="0" anchor="t"/>
          <a:lstStyle/>
          <a:p>
            <a:pPr marL="0" indent="0">
              <a:buNone/>
            </a:pPr>
            <a:r>
              <a:rPr lang="en-US" sz="1500" dirty="0">
                <a:solidFill>
                  <a:srgbClr val="3E4A5C"/>
                </a:solidFill>
                <a:latin typeface="Calibri" pitchFamily="34" charset="0"/>
                <a:ea typeface="Calibri" pitchFamily="34" charset="-122"/>
                <a:cs typeface="Calibri" pitchFamily="34" charset="-120"/>
              </a:rPr>
              <a:t>La U desaparece; queda relación con la liquidez → volumen e interés abierto</a:t>
            </a:r>
            <a:endParaRPr lang="en-US" sz="1500" dirty="0"/>
          </a:p>
        </p:txBody>
      </p:sp>
      <p:sp>
        <p:nvSpPr>
          <p:cNvPr id="10" name="Text 7"/>
          <p:cNvSpPr txBox="1"/>
          <p:nvPr/>
        </p:nvSpPr>
        <p:spPr>
          <a:xfrm>
            <a:off x="8188757" y="4935635"/>
            <a:ext cx="3454298" cy="274320"/>
          </a:xfrm>
          <a:prstGeom prst="rect">
            <a:avLst/>
          </a:prstGeom>
          <a:noFill/>
          <a:ln/>
        </p:spPr>
        <p:txBody>
          <a:bodyPr wrap="square" lIns="0" tIns="0" rIns="0" bIns="0" rtlCol="0" anchor="ctr"/>
          <a:lstStyle/>
          <a:p>
            <a:pPr marL="0" indent="0">
              <a:buNone/>
            </a:pPr>
            <a:r>
              <a:rPr lang="en-US" sz="1300" b="1" dirty="0">
                <a:solidFill>
                  <a:srgbClr val="1F7A8C"/>
                </a:solidFill>
                <a:latin typeface="Calibri" pitchFamily="34" charset="0"/>
                <a:ea typeface="Calibri" pitchFamily="34" charset="-122"/>
                <a:cs typeface="Calibri" pitchFamily="34" charset="-120"/>
              </a:rPr>
              <a:t>Modelo 3</a:t>
            </a:r>
            <a:endParaRPr lang="en-US" sz="1300" dirty="0"/>
          </a:p>
        </p:txBody>
      </p:sp>
      <p:sp>
        <p:nvSpPr>
          <p:cNvPr id="11" name="Text 8"/>
          <p:cNvSpPr txBox="1"/>
          <p:nvPr/>
        </p:nvSpPr>
        <p:spPr>
          <a:xfrm>
            <a:off x="8188757" y="5255675"/>
            <a:ext cx="3454298" cy="731520"/>
          </a:xfrm>
          <a:prstGeom prst="rect">
            <a:avLst/>
          </a:prstGeom>
          <a:noFill/>
          <a:ln/>
        </p:spPr>
        <p:txBody>
          <a:bodyPr wrap="square" lIns="0" tIns="0" rIns="0" bIns="0" rtlCol="0" anchor="t"/>
          <a:lstStyle/>
          <a:p>
            <a:pPr marL="0" indent="0">
              <a:buNone/>
            </a:pPr>
            <a:r>
              <a:rPr lang="en-US" sz="1500" dirty="0">
                <a:solidFill>
                  <a:srgbClr val="3E4A5C"/>
                </a:solidFill>
                <a:latin typeface="Calibri" pitchFamily="34" charset="0"/>
                <a:ea typeface="Calibri" pitchFamily="34" charset="-122"/>
                <a:cs typeface="Calibri" pitchFamily="34" charset="-120"/>
              </a:rPr>
              <a:t>Residuos centrados en cero y mucho más angostos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F"/>
        </a:solidFill>
        <a:effectLst/>
      </p:bgPr>
    </p:bg>
    <p:spTree>
      <p:nvGrpSpPr>
        <p:cNvPr id="1" name=""/>
        <p:cNvGrpSpPr/>
        <p:nvPr/>
      </p:nvGrpSpPr>
      <p:grpSpPr>
        <a:xfrm>
          <a:off x="0" y="0"/>
          <a:ext cx="0" cy="0"/>
          <a:chOff x="0" y="0"/>
          <a:chExt cx="0" cy="0"/>
        </a:xfrm>
      </p:grpSpPr>
      <p:sp>
        <p:nvSpPr>
          <p:cNvPr id="2" name="Text 0"/>
          <p:cNvSpPr txBox="1"/>
          <p:nvPr/>
        </p:nvSpPr>
        <p:spPr>
          <a:xfrm>
            <a:off x="548640" y="6355080"/>
            <a:ext cx="7315200" cy="274320"/>
          </a:xfrm>
          <a:prstGeom prst="rect">
            <a:avLst/>
          </a:prstGeom>
          <a:noFill/>
          <a:ln/>
        </p:spPr>
        <p:txBody>
          <a:bodyPr wrap="square" lIns="0" tIns="0" rIns="0" bIns="0" rtlCol="0" anchor="ctr"/>
          <a:lstStyle/>
          <a:p>
            <a:pPr marL="0" indent="0">
              <a:buNone/>
            </a:pPr>
            <a:r>
              <a:rPr lang="en-US" sz="1100" dirty="0">
                <a:solidFill>
                  <a:srgbClr val="5B6472"/>
                </a:solidFill>
                <a:latin typeface="Calibri" pitchFamily="34" charset="0"/>
                <a:ea typeface="Calibri" pitchFamily="34" charset="-122"/>
                <a:cs typeface="Calibri" pitchFamily="34" charset="-120"/>
              </a:rPr>
              <a:t>Superficie de volatilidad implícita · Análisis de Regresión</a:t>
            </a:r>
            <a:endParaRPr lang="en-US" sz="1100" dirty="0"/>
          </a:p>
        </p:txBody>
      </p:sp>
      <p:sp>
        <p:nvSpPr>
          <p:cNvPr id="3" name="Text 1"/>
          <p:cNvSpPr txBox="1"/>
          <p:nvPr/>
        </p:nvSpPr>
        <p:spPr>
          <a:xfrm>
            <a:off x="10728655" y="6355080"/>
            <a:ext cx="914400" cy="274320"/>
          </a:xfrm>
          <a:prstGeom prst="rect">
            <a:avLst/>
          </a:prstGeom>
          <a:noFill/>
          <a:ln/>
        </p:spPr>
        <p:txBody>
          <a:bodyPr wrap="square" lIns="0" tIns="0" rIns="0" bIns="0" rtlCol="0" anchor="ctr"/>
          <a:lstStyle/>
          <a:p>
            <a:pPr marL="0" indent="0" algn="r">
              <a:buNone/>
            </a:pPr>
            <a:r>
              <a:rPr lang="en-US" sz="1100" dirty="0">
                <a:solidFill>
                  <a:srgbClr val="5B6472"/>
                </a:solidFill>
                <a:latin typeface="Calibri" pitchFamily="34" charset="0"/>
                <a:ea typeface="Calibri" pitchFamily="34" charset="-122"/>
                <a:cs typeface="Calibri" pitchFamily="34" charset="-120"/>
              </a:rPr>
              <a:t>9</a:t>
            </a:r>
            <a:endParaRPr lang="en-US" sz="1100" dirty="0"/>
          </a:p>
        </p:txBody>
      </p:sp>
      <p:sp>
        <p:nvSpPr>
          <p:cNvPr id="4" name="Text 2"/>
          <p:cNvSpPr txBox="1"/>
          <p:nvPr/>
        </p:nvSpPr>
        <p:spPr>
          <a:xfrm>
            <a:off x="548640" y="411480"/>
            <a:ext cx="11094415" cy="731520"/>
          </a:xfrm>
          <a:prstGeom prst="rect">
            <a:avLst/>
          </a:prstGeom>
          <a:noFill/>
          <a:ln/>
        </p:spPr>
        <p:txBody>
          <a:bodyPr wrap="square" lIns="0" tIns="0" rIns="0" bIns="0" rtlCol="0" anchor="t"/>
          <a:lstStyle/>
          <a:p>
            <a:pPr marL="0" indent="0">
              <a:buNone/>
            </a:pPr>
            <a:r>
              <a:rPr lang="en-US" sz="3400" b="1" dirty="0">
                <a:solidFill>
                  <a:srgbClr val="14213D"/>
                </a:solidFill>
                <a:latin typeface="Cambria" pitchFamily="34" charset="0"/>
                <a:ea typeface="Cambria" pitchFamily="34" charset="-122"/>
                <a:cs typeface="Cambria" pitchFamily="34" charset="-120"/>
              </a:rPr>
              <a:t>Comparación de los 12 ajustes</a:t>
            </a:r>
            <a:endParaRPr lang="en-US" sz="3400" dirty="0"/>
          </a:p>
        </p:txBody>
      </p:sp>
      <p:graphicFrame>
        <p:nvGraphicFramePr>
          <p:cNvPr id="5" name="Chart 0"/>
          <p:cNvGraphicFramePr/>
          <p:nvPr/>
        </p:nvGraphicFramePr>
        <p:xfrm>
          <a:off x="548640" y="1280160"/>
          <a:ext cx="7406640" cy="45720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8321040" y="1737360"/>
            <a:ext cx="3322015" cy="1051560"/>
          </a:xfrm>
          <a:prstGeom prst="rect">
            <a:avLst/>
          </a:prstGeom>
          <a:noFill/>
          <a:ln/>
        </p:spPr>
        <p:txBody>
          <a:bodyPr wrap="square" lIns="0" tIns="0" rIns="0" bIns="0" rtlCol="0" anchor="t"/>
          <a:lstStyle/>
          <a:p>
            <a:pPr marL="0" indent="0">
              <a:buNone/>
            </a:pPr>
            <a:r>
              <a:rPr lang="en-US" sz="1700" b="1" dirty="0">
                <a:solidFill>
                  <a:srgbClr val="14213D"/>
                </a:solidFill>
                <a:latin typeface="Calibri" pitchFamily="34" charset="0"/>
                <a:ea typeface="Calibri" pitchFamily="34" charset="-122"/>
                <a:cs typeface="Calibri" pitchFamily="34" charset="-120"/>
              </a:rPr>
              <a:t>La curvatura paga: </a:t>
            </a:r>
            <a:r>
              <a:rPr lang="en-US" sz="1700" dirty="0">
                <a:solidFill>
                  <a:srgbClr val="3E4A5C"/>
                </a:solidFill>
                <a:latin typeface="Calibri" pitchFamily="34" charset="0"/>
                <a:ea typeface="Calibri" pitchFamily="34" charset="-122"/>
                <a:cs typeface="Calibri" pitchFamily="34" charset="-120"/>
              </a:rPr>
              <a:t>de 0.58 a 0.735 al pasar a polinomio.</a:t>
            </a:r>
            <a:endParaRPr lang="en-US" sz="1700" dirty="0"/>
          </a:p>
        </p:txBody>
      </p:sp>
      <p:sp>
        <p:nvSpPr>
          <p:cNvPr id="7" name="Text 4"/>
          <p:cNvSpPr txBox="1"/>
          <p:nvPr/>
        </p:nvSpPr>
        <p:spPr>
          <a:xfrm>
            <a:off x="8321040" y="2971800"/>
            <a:ext cx="3322015" cy="1051560"/>
          </a:xfrm>
          <a:prstGeom prst="rect">
            <a:avLst/>
          </a:prstGeom>
          <a:noFill/>
          <a:ln/>
        </p:spPr>
        <p:txBody>
          <a:bodyPr wrap="square" lIns="0" tIns="0" rIns="0" bIns="0" rtlCol="0" anchor="t"/>
          <a:lstStyle/>
          <a:p>
            <a:pPr marL="0" indent="0">
              <a:buNone/>
            </a:pPr>
            <a:r>
              <a:rPr lang="en-US" sz="1700" b="1" dirty="0">
                <a:solidFill>
                  <a:srgbClr val="14213D"/>
                </a:solidFill>
                <a:latin typeface="Calibri" pitchFamily="34" charset="0"/>
                <a:ea typeface="Calibri" pitchFamily="34" charset="-122"/>
                <a:cs typeface="Calibri" pitchFamily="34" charset="-120"/>
              </a:rPr>
              <a:t>M1 y M2: </a:t>
            </a:r>
            <a:r>
              <a:rPr lang="en-US" sz="1700" dirty="0">
                <a:solidFill>
                  <a:srgbClr val="3E4A5C"/>
                </a:solidFill>
                <a:latin typeface="Calibri" pitchFamily="34" charset="0"/>
                <a:ea typeface="Calibri" pitchFamily="34" charset="-122"/>
                <a:cs typeface="Calibri" pitchFamily="34" charset="-120"/>
              </a:rPr>
              <a:t>las 4 versiones empatan. No hay sobreajuste que corregir.</a:t>
            </a:r>
            <a:endParaRPr lang="en-US" sz="1700" dirty="0"/>
          </a:p>
        </p:txBody>
      </p:sp>
      <p:sp>
        <p:nvSpPr>
          <p:cNvPr id="8" name="Text 5"/>
          <p:cNvSpPr txBox="1"/>
          <p:nvPr/>
        </p:nvSpPr>
        <p:spPr>
          <a:xfrm>
            <a:off x="8321040" y="4206240"/>
            <a:ext cx="3322015" cy="1051560"/>
          </a:xfrm>
          <a:prstGeom prst="rect">
            <a:avLst/>
          </a:prstGeom>
          <a:noFill/>
          <a:ln/>
        </p:spPr>
        <p:txBody>
          <a:bodyPr wrap="square" lIns="0" tIns="0" rIns="0" bIns="0" rtlCol="0" anchor="t"/>
          <a:lstStyle/>
          <a:p>
            <a:pPr marL="0" indent="0">
              <a:buNone/>
            </a:pPr>
            <a:r>
              <a:rPr lang="en-US" sz="1700" b="1" dirty="0">
                <a:solidFill>
                  <a:srgbClr val="14213D"/>
                </a:solidFill>
                <a:latin typeface="Calibri" pitchFamily="34" charset="0"/>
                <a:ea typeface="Calibri" pitchFamily="34" charset="-122"/>
                <a:cs typeface="Calibri" pitchFamily="34" charset="-120"/>
              </a:rPr>
              <a:t>M3: </a:t>
            </a:r>
            <a:r>
              <a:rPr lang="en-US" sz="1700" dirty="0">
                <a:solidFill>
                  <a:srgbClr val="3E4A5C"/>
                </a:solidFill>
                <a:latin typeface="Calibri" pitchFamily="34" charset="0"/>
                <a:ea typeface="Calibri" pitchFamily="34" charset="-122"/>
                <a:cs typeface="Calibri" pitchFamily="34" charset="-120"/>
              </a:rPr>
              <a:t>Lasso llega a 0.84; sin penalización se queda en 0.68.</a:t>
            </a:r>
            <a:endParaRPr lang="en-US" sz="1700" dirty="0"/>
          </a:p>
        </p:txBody>
      </p:sp>
      <p:sp>
        <p:nvSpPr>
          <p:cNvPr id="9" name="Text 6"/>
          <p:cNvSpPr txBox="1"/>
          <p:nvPr/>
        </p:nvSpPr>
        <p:spPr>
          <a:xfrm>
            <a:off x="548640" y="5943600"/>
            <a:ext cx="11094415" cy="274320"/>
          </a:xfrm>
          <a:prstGeom prst="rect">
            <a:avLst/>
          </a:prstGeom>
          <a:noFill/>
          <a:ln/>
        </p:spPr>
        <p:txBody>
          <a:bodyPr wrap="square" lIns="0" tIns="0" rIns="0" bIns="0" rtlCol="0" anchor="ctr"/>
          <a:lstStyle/>
          <a:p>
            <a:pPr marL="0" indent="0">
              <a:buNone/>
            </a:pPr>
            <a:r>
              <a:rPr lang="en-US" sz="1100" dirty="0">
                <a:solidFill>
                  <a:srgbClr val="5B6472"/>
                </a:solidFill>
                <a:latin typeface="Calibri" pitchFamily="34" charset="0"/>
                <a:ea typeface="Calibri" pitchFamily="34" charset="-122"/>
                <a:cs typeface="Calibri" pitchFamily="34" charset="-120"/>
              </a:rPr>
              <a:t>R² de validación cruzada con 5 pliegues sobre el conjunto de entrenamiento</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F"/>
        </a:solidFill>
        <a:effectLst/>
      </p:bgPr>
    </p:bg>
    <p:spTree>
      <p:nvGrpSpPr>
        <p:cNvPr id="1" name=""/>
        <p:cNvGrpSpPr/>
        <p:nvPr/>
      </p:nvGrpSpPr>
      <p:grpSpPr>
        <a:xfrm>
          <a:off x="0" y="0"/>
          <a:ext cx="0" cy="0"/>
          <a:chOff x="0" y="0"/>
          <a:chExt cx="0" cy="0"/>
        </a:xfrm>
      </p:grpSpPr>
      <p:sp>
        <p:nvSpPr>
          <p:cNvPr id="2" name="Text 0"/>
          <p:cNvSpPr txBox="1"/>
          <p:nvPr/>
        </p:nvSpPr>
        <p:spPr>
          <a:xfrm>
            <a:off x="548640" y="6355080"/>
            <a:ext cx="7315200" cy="274320"/>
          </a:xfrm>
          <a:prstGeom prst="rect">
            <a:avLst/>
          </a:prstGeom>
          <a:noFill/>
          <a:ln/>
        </p:spPr>
        <p:txBody>
          <a:bodyPr wrap="square" lIns="0" tIns="0" rIns="0" bIns="0" rtlCol="0" anchor="ctr"/>
          <a:lstStyle/>
          <a:p>
            <a:pPr marL="0" indent="0">
              <a:buNone/>
            </a:pPr>
            <a:r>
              <a:rPr lang="en-US" sz="1100" dirty="0">
                <a:solidFill>
                  <a:srgbClr val="5B6472"/>
                </a:solidFill>
                <a:latin typeface="Calibri" pitchFamily="34" charset="0"/>
                <a:ea typeface="Calibri" pitchFamily="34" charset="-122"/>
                <a:cs typeface="Calibri" pitchFamily="34" charset="-120"/>
              </a:rPr>
              <a:t>Superficie de volatilidad implícita · Análisis de Regresión</a:t>
            </a:r>
            <a:endParaRPr lang="en-US" sz="1100" dirty="0"/>
          </a:p>
        </p:txBody>
      </p:sp>
      <p:sp>
        <p:nvSpPr>
          <p:cNvPr id="3" name="Text 1"/>
          <p:cNvSpPr txBox="1"/>
          <p:nvPr/>
        </p:nvSpPr>
        <p:spPr>
          <a:xfrm>
            <a:off x="10728655" y="6355080"/>
            <a:ext cx="914400" cy="274320"/>
          </a:xfrm>
          <a:prstGeom prst="rect">
            <a:avLst/>
          </a:prstGeom>
          <a:noFill/>
          <a:ln/>
        </p:spPr>
        <p:txBody>
          <a:bodyPr wrap="square" lIns="0" tIns="0" rIns="0" bIns="0" rtlCol="0" anchor="ctr"/>
          <a:lstStyle/>
          <a:p>
            <a:pPr marL="0" indent="0" algn="r">
              <a:buNone/>
            </a:pPr>
            <a:r>
              <a:rPr lang="en-US" sz="1100" dirty="0">
                <a:solidFill>
                  <a:srgbClr val="5B6472"/>
                </a:solidFill>
                <a:latin typeface="Calibri" pitchFamily="34" charset="0"/>
                <a:ea typeface="Calibri" pitchFamily="34" charset="-122"/>
                <a:cs typeface="Calibri" pitchFamily="34" charset="-120"/>
              </a:rPr>
              <a:t>10</a:t>
            </a:r>
            <a:endParaRPr lang="en-US" sz="1100" dirty="0"/>
          </a:p>
        </p:txBody>
      </p:sp>
      <p:sp>
        <p:nvSpPr>
          <p:cNvPr id="4" name="Text 2"/>
          <p:cNvSpPr txBox="1"/>
          <p:nvPr/>
        </p:nvSpPr>
        <p:spPr>
          <a:xfrm>
            <a:off x="548640" y="411480"/>
            <a:ext cx="11094415" cy="731520"/>
          </a:xfrm>
          <a:prstGeom prst="rect">
            <a:avLst/>
          </a:prstGeom>
          <a:noFill/>
          <a:ln/>
        </p:spPr>
        <p:txBody>
          <a:bodyPr wrap="square" lIns="0" tIns="0" rIns="0" bIns="0" rtlCol="0" anchor="t"/>
          <a:lstStyle/>
          <a:p>
            <a:pPr marL="0" indent="0">
              <a:buNone/>
            </a:pPr>
            <a:r>
              <a:rPr lang="en-US" sz="3400" b="1" dirty="0">
                <a:solidFill>
                  <a:srgbClr val="14213D"/>
                </a:solidFill>
                <a:latin typeface="Cambria" pitchFamily="34" charset="0"/>
                <a:ea typeface="Cambria" pitchFamily="34" charset="-122"/>
                <a:cs typeface="Cambria" pitchFamily="34" charset="-120"/>
              </a:rPr>
              <a:t>El R² de prueba escondía un modelo inestable</a:t>
            </a:r>
            <a:endParaRPr lang="en-US" sz="3400" dirty="0"/>
          </a:p>
        </p:txBody>
      </p:sp>
      <p:sp>
        <p:nvSpPr>
          <p:cNvPr id="5" name="Text 3"/>
          <p:cNvSpPr txBox="1"/>
          <p:nvPr/>
        </p:nvSpPr>
        <p:spPr>
          <a:xfrm>
            <a:off x="548640" y="1463040"/>
            <a:ext cx="4572000" cy="1371600"/>
          </a:xfrm>
          <a:prstGeom prst="rect">
            <a:avLst/>
          </a:prstGeom>
          <a:noFill/>
          <a:ln/>
        </p:spPr>
        <p:txBody>
          <a:bodyPr wrap="square" lIns="0" tIns="0" rIns="0" bIns="0" rtlCol="0" anchor="t"/>
          <a:lstStyle/>
          <a:p>
            <a:pPr marL="0" indent="0">
              <a:buNone/>
            </a:pPr>
            <a:r>
              <a:rPr lang="en-US" sz="1800" dirty="0">
                <a:solidFill>
                  <a:srgbClr val="3E4A5C"/>
                </a:solidFill>
                <a:latin typeface="Calibri" pitchFamily="34" charset="0"/>
                <a:ea typeface="Calibri" pitchFamily="34" charset="-122"/>
                <a:cs typeface="Calibri" pitchFamily="34" charset="-120"/>
              </a:rPr>
              <a:t>Sin penalización, el Modelo 3 tuvo el </a:t>
            </a:r>
            <a:r>
              <a:rPr lang="en-US" sz="1800" b="1" dirty="0">
                <a:solidFill>
                  <a:srgbClr val="14213D"/>
                </a:solidFill>
                <a:latin typeface="Calibri" pitchFamily="34" charset="0"/>
                <a:ea typeface="Calibri" pitchFamily="34" charset="-122"/>
                <a:cs typeface="Calibri" pitchFamily="34" charset="-120"/>
              </a:rPr>
              <a:t>R² de prueba más alto: 0.847</a:t>
            </a:r>
            <a:r>
              <a:rPr lang="en-US" sz="1800" dirty="0">
                <a:solidFill>
                  <a:srgbClr val="3E4A5C"/>
                </a:solidFill>
                <a:latin typeface="Calibri" pitchFamily="34" charset="0"/>
                <a:ea typeface="Calibri" pitchFamily="34" charset="-122"/>
                <a:cs typeface="Calibri" pitchFamily="34" charset="-120"/>
              </a:rPr>
              <a:t>.</a:t>
            </a:r>
            <a:endParaRPr lang="en-US" sz="1800" dirty="0"/>
          </a:p>
        </p:txBody>
      </p:sp>
      <p:sp>
        <p:nvSpPr>
          <p:cNvPr id="6" name="Text 4"/>
          <p:cNvSpPr txBox="1"/>
          <p:nvPr/>
        </p:nvSpPr>
        <p:spPr>
          <a:xfrm>
            <a:off x="548640" y="2377440"/>
            <a:ext cx="4572000" cy="1371600"/>
          </a:xfrm>
          <a:prstGeom prst="rect">
            <a:avLst/>
          </a:prstGeom>
          <a:noFill/>
          <a:ln/>
        </p:spPr>
        <p:txBody>
          <a:bodyPr wrap="square" lIns="0" tIns="0" rIns="0" bIns="0" rtlCol="0" anchor="t"/>
          <a:lstStyle/>
          <a:p>
            <a:pPr marL="0" indent="0">
              <a:buNone/>
            </a:pPr>
            <a:r>
              <a:rPr lang="en-US" sz="1800" dirty="0">
                <a:solidFill>
                  <a:srgbClr val="3E4A5C"/>
                </a:solidFill>
                <a:latin typeface="Calibri" pitchFamily="34" charset="0"/>
                <a:ea typeface="Calibri" pitchFamily="34" charset="-122"/>
                <a:cs typeface="Calibri" pitchFamily="34" charset="-120"/>
              </a:rPr>
              <a:t>Pero en validación cruzada promedió </a:t>
            </a:r>
            <a:r>
              <a:rPr lang="en-US" sz="1800" b="1" dirty="0">
                <a:solidFill>
                  <a:srgbClr val="14213D"/>
                </a:solidFill>
                <a:latin typeface="Calibri" pitchFamily="34" charset="0"/>
                <a:ea typeface="Calibri" pitchFamily="34" charset="-122"/>
                <a:cs typeface="Calibri" pitchFamily="34" charset="-120"/>
              </a:rPr>
              <a:t>0.68</a:t>
            </a:r>
            <a:r>
              <a:rPr lang="en-US" sz="1800" dirty="0">
                <a:solidFill>
                  <a:srgbClr val="3E4A5C"/>
                </a:solidFill>
                <a:latin typeface="Calibri" pitchFamily="34" charset="0"/>
                <a:ea typeface="Calibri" pitchFamily="34" charset="-122"/>
                <a:cs typeface="Calibri" pitchFamily="34" charset="-120"/>
              </a:rPr>
              <a:t>, con un pliegue en </a:t>
            </a:r>
            <a:r>
              <a:rPr lang="en-US" sz="1800" b="1" dirty="0">
                <a:solidFill>
                  <a:srgbClr val="14213D"/>
                </a:solidFill>
                <a:latin typeface="Calibri" pitchFamily="34" charset="0"/>
                <a:ea typeface="Calibri" pitchFamily="34" charset="-122"/>
                <a:cs typeface="Calibri" pitchFamily="34" charset="-120"/>
              </a:rPr>
              <a:t>0.22</a:t>
            </a:r>
            <a:r>
              <a:rPr lang="en-US" sz="1800" dirty="0">
                <a:solidFill>
                  <a:srgbClr val="3E4A5C"/>
                </a:solidFill>
                <a:latin typeface="Calibri" pitchFamily="34" charset="0"/>
                <a:ea typeface="Calibri" pitchFamily="34" charset="-122"/>
                <a:cs typeface="Calibri" pitchFamily="34" charset="-120"/>
              </a:rPr>
              <a:t>: 216 columnas correlacionadas producen coeficientes que se disparan.</a:t>
            </a:r>
            <a:endParaRPr lang="en-US" sz="1800" dirty="0"/>
          </a:p>
        </p:txBody>
      </p:sp>
      <p:sp>
        <p:nvSpPr>
          <p:cNvPr id="7" name="Text 5"/>
          <p:cNvSpPr txBox="1"/>
          <p:nvPr/>
        </p:nvSpPr>
        <p:spPr>
          <a:xfrm>
            <a:off x="548640" y="3840480"/>
            <a:ext cx="4572000" cy="1371600"/>
          </a:xfrm>
          <a:prstGeom prst="rect">
            <a:avLst/>
          </a:prstGeom>
          <a:noFill/>
          <a:ln/>
        </p:spPr>
        <p:txBody>
          <a:bodyPr wrap="square" lIns="0" tIns="0" rIns="0" bIns="0" rtlCol="0" anchor="t"/>
          <a:lstStyle/>
          <a:p>
            <a:pPr marL="0" indent="0">
              <a:buNone/>
            </a:pPr>
            <a:r>
              <a:rPr lang="en-US" sz="1800" dirty="0">
                <a:solidFill>
                  <a:srgbClr val="3E4A5C"/>
                </a:solidFill>
                <a:latin typeface="Calibri" pitchFamily="34" charset="0"/>
                <a:ea typeface="Calibri" pitchFamily="34" charset="-122"/>
                <a:cs typeface="Calibri" pitchFamily="34" charset="-120"/>
              </a:rPr>
              <a:t>Lasso se mantuvo entre </a:t>
            </a:r>
            <a:r>
              <a:rPr lang="en-US" sz="1800" b="1" dirty="0">
                <a:solidFill>
                  <a:srgbClr val="14213D"/>
                </a:solidFill>
                <a:latin typeface="Calibri" pitchFamily="34" charset="0"/>
                <a:ea typeface="Calibri" pitchFamily="34" charset="-122"/>
                <a:cs typeface="Calibri" pitchFamily="34" charset="-120"/>
              </a:rPr>
              <a:t>0.81 y 0.86</a:t>
            </a:r>
            <a:r>
              <a:rPr lang="en-US" sz="1800" dirty="0">
                <a:solidFill>
                  <a:srgbClr val="3E4A5C"/>
                </a:solidFill>
                <a:latin typeface="Calibri" pitchFamily="34" charset="0"/>
                <a:ea typeface="Calibri" pitchFamily="34" charset="-122"/>
                <a:cs typeface="Calibri" pitchFamily="34" charset="-120"/>
              </a:rPr>
              <a:t> en los 5 pliegues y eliminó 80 de las 216 columnas.</a:t>
            </a:r>
            <a:endParaRPr lang="en-US" sz="1800" dirty="0"/>
          </a:p>
        </p:txBody>
      </p:sp>
      <p:graphicFrame>
        <p:nvGraphicFramePr>
          <p:cNvPr id="8" name="Chart 0"/>
          <p:cNvGraphicFramePr/>
          <p:nvPr/>
        </p:nvGraphicFramePr>
        <p:xfrm>
          <a:off x="5486400" y="1280160"/>
          <a:ext cx="6156655" cy="475488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F"/>
        </a:solidFill>
        <a:effectLst/>
      </p:bgPr>
    </p:bg>
    <p:spTree>
      <p:nvGrpSpPr>
        <p:cNvPr id="1" name=""/>
        <p:cNvGrpSpPr/>
        <p:nvPr/>
      </p:nvGrpSpPr>
      <p:grpSpPr>
        <a:xfrm>
          <a:off x="0" y="0"/>
          <a:ext cx="0" cy="0"/>
          <a:chOff x="0" y="0"/>
          <a:chExt cx="0" cy="0"/>
        </a:xfrm>
      </p:grpSpPr>
      <p:sp>
        <p:nvSpPr>
          <p:cNvPr id="2" name="Text 0"/>
          <p:cNvSpPr txBox="1"/>
          <p:nvPr/>
        </p:nvSpPr>
        <p:spPr>
          <a:xfrm>
            <a:off x="548640" y="6355080"/>
            <a:ext cx="7315200" cy="274320"/>
          </a:xfrm>
          <a:prstGeom prst="rect">
            <a:avLst/>
          </a:prstGeom>
          <a:noFill/>
          <a:ln/>
        </p:spPr>
        <p:txBody>
          <a:bodyPr wrap="square" lIns="0" tIns="0" rIns="0" bIns="0" rtlCol="0" anchor="ctr"/>
          <a:lstStyle/>
          <a:p>
            <a:pPr marL="0" indent="0">
              <a:buNone/>
            </a:pPr>
            <a:r>
              <a:rPr lang="en-US" sz="1100" dirty="0">
                <a:solidFill>
                  <a:srgbClr val="5B6472"/>
                </a:solidFill>
                <a:latin typeface="Calibri" pitchFamily="34" charset="0"/>
                <a:ea typeface="Calibri" pitchFamily="34" charset="-122"/>
                <a:cs typeface="Calibri" pitchFamily="34" charset="-120"/>
              </a:rPr>
              <a:t>Superficie de volatilidad implícita · Análisis de Regresión</a:t>
            </a:r>
            <a:endParaRPr lang="en-US" sz="1100" dirty="0"/>
          </a:p>
        </p:txBody>
      </p:sp>
      <p:sp>
        <p:nvSpPr>
          <p:cNvPr id="3" name="Text 1"/>
          <p:cNvSpPr txBox="1"/>
          <p:nvPr/>
        </p:nvSpPr>
        <p:spPr>
          <a:xfrm>
            <a:off x="10728655" y="6355080"/>
            <a:ext cx="914400" cy="274320"/>
          </a:xfrm>
          <a:prstGeom prst="rect">
            <a:avLst/>
          </a:prstGeom>
          <a:noFill/>
          <a:ln/>
        </p:spPr>
        <p:txBody>
          <a:bodyPr wrap="square" lIns="0" tIns="0" rIns="0" bIns="0" rtlCol="0" anchor="ctr"/>
          <a:lstStyle/>
          <a:p>
            <a:pPr marL="0" indent="0" algn="r">
              <a:buNone/>
            </a:pPr>
            <a:r>
              <a:rPr lang="en-US" sz="1100" dirty="0">
                <a:solidFill>
                  <a:srgbClr val="5B6472"/>
                </a:solidFill>
                <a:latin typeface="Calibri" pitchFamily="34" charset="0"/>
                <a:ea typeface="Calibri" pitchFamily="34" charset="-122"/>
                <a:cs typeface="Calibri" pitchFamily="34" charset="-120"/>
              </a:rPr>
              <a:t>11</a:t>
            </a:r>
            <a:endParaRPr lang="en-US" sz="1100" dirty="0"/>
          </a:p>
        </p:txBody>
      </p:sp>
      <p:sp>
        <p:nvSpPr>
          <p:cNvPr id="4" name="Text 2"/>
          <p:cNvSpPr txBox="1"/>
          <p:nvPr/>
        </p:nvSpPr>
        <p:spPr>
          <a:xfrm>
            <a:off x="548640" y="411480"/>
            <a:ext cx="11094415" cy="731520"/>
          </a:xfrm>
          <a:prstGeom prst="rect">
            <a:avLst/>
          </a:prstGeom>
          <a:noFill/>
          <a:ln/>
        </p:spPr>
        <p:txBody>
          <a:bodyPr wrap="square" lIns="0" tIns="0" rIns="0" bIns="0" rtlCol="0" anchor="t"/>
          <a:lstStyle/>
          <a:p>
            <a:pPr marL="0" indent="0">
              <a:buNone/>
            </a:pPr>
            <a:r>
              <a:rPr lang="en-US" sz="3400" b="1" dirty="0">
                <a:solidFill>
                  <a:srgbClr val="14213D"/>
                </a:solidFill>
                <a:latin typeface="Cambria" pitchFamily="34" charset="0"/>
                <a:ea typeface="Cambria" pitchFamily="34" charset="-122"/>
                <a:cs typeface="Cambria" pitchFamily="34" charset="-120"/>
              </a:rPr>
              <a:t>Significancia de factores</a:t>
            </a:r>
            <a:endParaRPr lang="en-US" sz="3400" dirty="0"/>
          </a:p>
        </p:txBody>
      </p:sp>
      <p:sp>
        <p:nvSpPr>
          <p:cNvPr id="5" name="Text 3"/>
          <p:cNvSpPr txBox="1"/>
          <p:nvPr/>
        </p:nvSpPr>
        <p:spPr>
          <a:xfrm>
            <a:off x="548640" y="1188720"/>
            <a:ext cx="11094415" cy="640080"/>
          </a:xfrm>
          <a:prstGeom prst="rect">
            <a:avLst/>
          </a:prstGeom>
          <a:noFill/>
          <a:ln/>
        </p:spPr>
        <p:txBody>
          <a:bodyPr wrap="square" lIns="0" tIns="0" rIns="0" bIns="0" rtlCol="0" anchor="t"/>
          <a:lstStyle/>
          <a:p>
            <a:pPr marL="0" indent="0">
              <a:buNone/>
            </a:pPr>
            <a:r>
              <a:rPr lang="en-US" sz="1600" dirty="0">
                <a:solidFill>
                  <a:srgbClr val="3E4A5C"/>
                </a:solidFill>
                <a:latin typeface="Calibri" pitchFamily="34" charset="0"/>
                <a:ea typeface="Calibri" pitchFamily="34" charset="-122"/>
                <a:cs typeface="Calibri" pitchFamily="34" charset="-120"/>
              </a:rPr>
              <a:t>Modelo 2 sin penalización: </a:t>
            </a:r>
            <a:r>
              <a:rPr lang="en-US" sz="1600" b="1" dirty="0">
                <a:solidFill>
                  <a:srgbClr val="14213D"/>
                </a:solidFill>
                <a:latin typeface="Calibri" pitchFamily="34" charset="0"/>
                <a:ea typeface="Calibri" pitchFamily="34" charset="-122"/>
                <a:cs typeface="Calibri" pitchFamily="34" charset="-120"/>
              </a:rPr>
              <a:t>15 de 16 factores significativos al 5%</a:t>
            </a:r>
            <a:r>
              <a:rPr lang="en-US" sz="1600" dirty="0">
                <a:solidFill>
                  <a:srgbClr val="3E4A5C"/>
                </a:solidFill>
                <a:latin typeface="Calibri" pitchFamily="34" charset="0"/>
                <a:ea typeface="Calibri" pitchFamily="34" charset="-122"/>
                <a:cs typeface="Calibri" pitchFamily="34" charset="-120"/>
              </a:rPr>
              <a:t>. Las conclusiones se sostienen con errores estándar robustos (HC3). Coeficientes sobre variables estandarizadas.</a:t>
            </a:r>
            <a:endParaRPr lang="en-US" sz="1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94415" cy="914400"/>
        </p:xfrm>
        <a:graphic>
          <a:graphicData uri="http://schemas.openxmlformats.org/drawingml/2006/table">
            <a:tbl>
              <a:tblPr/>
              <a:tblGrid>
                <a:gridCol w="27432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6339535">
                  <a:extLst>
                    <a:ext uri="{9D8B030D-6E8A-4147-A177-3AD203B41FA5}">
                      <a16:colId xmlns:a16="http://schemas.microsoft.com/office/drawing/2014/main" val="20002"/>
                    </a:ext>
                  </a:extLst>
                </a:gridCol>
              </a:tblGrid>
              <a:tr h="475488">
                <a:tc>
                  <a:txBody>
                    <a:bodyPr/>
                    <a:lstStyle/>
                    <a:p>
                      <a:pPr marL="0" indent="0">
                        <a:buNone/>
                      </a:pPr>
                      <a:r>
                        <a:rPr lang="en-US" sz="1600" b="1" dirty="0">
                          <a:solidFill>
                            <a:srgbClr val="14213D"/>
                          </a:solidFill>
                          <a:latin typeface="Calibri" pitchFamily="34" charset="0"/>
                          <a:ea typeface="Calibri" pitchFamily="34" charset="-122"/>
                          <a:cs typeface="Calibri" pitchFamily="34" charset="-120"/>
                        </a:rPr>
                        <a:t>Término</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solidFill>
                      <a:srgbClr val="ECE7DC"/>
                    </a:solidFill>
                  </a:tcPr>
                </a:tc>
                <a:tc>
                  <a:txBody>
                    <a:bodyPr/>
                    <a:lstStyle/>
                    <a:p>
                      <a:pPr marL="0" indent="0">
                        <a:buNone/>
                      </a:pPr>
                      <a:r>
                        <a:rPr lang="en-US" sz="1600" b="1" dirty="0">
                          <a:solidFill>
                            <a:srgbClr val="14213D"/>
                          </a:solidFill>
                          <a:latin typeface="Calibri" pitchFamily="34" charset="0"/>
                          <a:ea typeface="Calibri" pitchFamily="34" charset="-122"/>
                          <a:cs typeface="Calibri" pitchFamily="34" charset="-120"/>
                        </a:rPr>
                        <a:t>Coeficiente</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solidFill>
                      <a:srgbClr val="ECE7DC"/>
                    </a:solidFill>
                  </a:tcPr>
                </a:tc>
                <a:tc>
                  <a:txBody>
                    <a:bodyPr/>
                    <a:lstStyle/>
                    <a:p>
                      <a:pPr marL="0" indent="0">
                        <a:buNone/>
                      </a:pPr>
                      <a:r>
                        <a:rPr lang="en-US" sz="1600" b="1" dirty="0">
                          <a:solidFill>
                            <a:srgbClr val="14213D"/>
                          </a:solidFill>
                          <a:latin typeface="Calibri" pitchFamily="34" charset="0"/>
                          <a:ea typeface="Calibri" pitchFamily="34" charset="-122"/>
                          <a:cs typeface="Calibri" pitchFamily="34" charset="-120"/>
                        </a:rPr>
                        <a:t>Lectura</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solidFill>
                      <a:srgbClr val="ECE7DC"/>
                    </a:solidFill>
                  </a:tcPr>
                </a:tc>
                <a:extLst>
                  <a:ext uri="{0D108BD9-81ED-4DB2-BD59-A6C34878D82A}">
                    <a16:rowId xmlns:a16="http://schemas.microsoft.com/office/drawing/2014/main" val="10000"/>
                  </a:ext>
                </a:extLst>
              </a:tr>
              <a:tr h="475488">
                <a:tc>
                  <a:txBody>
                    <a:bodyPr/>
                    <a:lstStyle/>
                    <a:p>
                      <a:pPr marL="0" indent="0">
                        <a:buNone/>
                      </a:pPr>
                      <a:r>
                        <a:rPr lang="en-US" sz="1600" dirty="0">
                          <a:solidFill>
                            <a:srgbClr val="14213D"/>
                          </a:solidFill>
                          <a:latin typeface="Calibri" pitchFamily="34" charset="0"/>
                          <a:ea typeface="Calibri" pitchFamily="34" charset="-122"/>
                          <a:cs typeface="Calibri" pitchFamily="34" charset="-120"/>
                        </a:rPr>
                        <a:t>logm</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tc>
                  <a:txBody>
                    <a:bodyPr/>
                    <a:lstStyle/>
                    <a:p>
                      <a:pPr marL="0" indent="0">
                        <a:buNone/>
                      </a:pPr>
                      <a:r>
                        <a:rPr lang="en-US" sz="1600" dirty="0">
                          <a:solidFill>
                            <a:srgbClr val="14213D"/>
                          </a:solidFill>
                          <a:latin typeface="Calibri" pitchFamily="34" charset="0"/>
                          <a:ea typeface="Calibri" pitchFamily="34" charset="-122"/>
                          <a:cs typeface="Calibri" pitchFamily="34" charset="-120"/>
                        </a:rPr>
                        <a:t>−0.46</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tc>
                  <a:txBody>
                    <a:bodyPr/>
                    <a:lstStyle/>
                    <a:p>
                      <a:pPr marL="0" indent="0">
                        <a:buNone/>
                      </a:pPr>
                      <a:r>
                        <a:rPr lang="en-US" sz="1600" dirty="0">
                          <a:solidFill>
                            <a:srgbClr val="3E4A5C"/>
                          </a:solidFill>
                          <a:latin typeface="Calibri" pitchFamily="34" charset="0"/>
                          <a:ea typeface="Calibri" pitchFamily="34" charset="-122"/>
                          <a:cs typeface="Calibri" pitchFamily="34" charset="-120"/>
                        </a:rPr>
                        <a:t>Skew: al subir el strike, baja la VI</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buNone/>
                      </a:pPr>
                      <a:r>
                        <a:rPr lang="en-US" sz="1600" dirty="0">
                          <a:solidFill>
                            <a:srgbClr val="14213D"/>
                          </a:solidFill>
                          <a:latin typeface="Calibri" pitchFamily="34" charset="0"/>
                          <a:ea typeface="Calibri" pitchFamily="34" charset="-122"/>
                          <a:cs typeface="Calibri" pitchFamily="34" charset="-120"/>
                        </a:rPr>
                        <a:t>logm²</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tc>
                  <a:txBody>
                    <a:bodyPr/>
                    <a:lstStyle/>
                    <a:p>
                      <a:pPr marL="0" indent="0">
                        <a:buNone/>
                      </a:pPr>
                      <a:r>
                        <a:rPr lang="en-US" sz="1600" dirty="0">
                          <a:solidFill>
                            <a:srgbClr val="14213D"/>
                          </a:solidFill>
                          <a:latin typeface="Calibri" pitchFamily="34" charset="0"/>
                          <a:ea typeface="Calibri" pitchFamily="34" charset="-122"/>
                          <a:cs typeface="Calibri" pitchFamily="34" charset="-120"/>
                        </a:rPr>
                        <a:t>+0.13</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tc>
                  <a:txBody>
                    <a:bodyPr/>
                    <a:lstStyle/>
                    <a:p>
                      <a:pPr marL="0" indent="0">
                        <a:buNone/>
                      </a:pPr>
                      <a:r>
                        <a:rPr lang="en-US" sz="1600" dirty="0">
                          <a:solidFill>
                            <a:srgbClr val="3E4A5C"/>
                          </a:solidFill>
                          <a:latin typeface="Calibri" pitchFamily="34" charset="0"/>
                          <a:ea typeface="Calibri" pitchFamily="34" charset="-122"/>
                          <a:cs typeface="Calibri" pitchFamily="34" charset="-120"/>
                        </a:rPr>
                        <a:t>La sonrisa existe</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buNone/>
                      </a:pPr>
                      <a:r>
                        <a:rPr lang="en-US" sz="1600" dirty="0">
                          <a:solidFill>
                            <a:srgbClr val="14213D"/>
                          </a:solidFill>
                          <a:latin typeface="Calibri" pitchFamily="34" charset="0"/>
                          <a:ea typeface="Calibri" pitchFamily="34" charset="-122"/>
                          <a:cs typeface="Calibri" pitchFamily="34" charset="-120"/>
                        </a:rPr>
                        <a:t>logm³</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tc>
                  <a:txBody>
                    <a:bodyPr/>
                    <a:lstStyle/>
                    <a:p>
                      <a:pPr marL="0" indent="0">
                        <a:buNone/>
                      </a:pPr>
                      <a:r>
                        <a:rPr lang="en-US" sz="1600" dirty="0">
                          <a:solidFill>
                            <a:srgbClr val="14213D"/>
                          </a:solidFill>
                          <a:latin typeface="Calibri" pitchFamily="34" charset="0"/>
                          <a:ea typeface="Calibri" pitchFamily="34" charset="-122"/>
                          <a:cs typeface="Calibri" pitchFamily="34" charset="-120"/>
                        </a:rPr>
                        <a:t>+0.08</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tc>
                  <a:txBody>
                    <a:bodyPr/>
                    <a:lstStyle/>
                    <a:p>
                      <a:pPr marL="0" indent="0">
                        <a:buNone/>
                      </a:pPr>
                      <a:r>
                        <a:rPr lang="en-US" sz="1600" dirty="0">
                          <a:solidFill>
                            <a:srgbClr val="3E4A5C"/>
                          </a:solidFill>
                          <a:latin typeface="Calibri" pitchFamily="34" charset="0"/>
                          <a:ea typeface="Calibri" pitchFamily="34" charset="-122"/>
                          <a:cs typeface="Calibri" pitchFamily="34" charset="-120"/>
                        </a:rPr>
                        <a:t>La sonrisa es asimétrica</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marL="0" indent="0">
                        <a:buNone/>
                      </a:pPr>
                      <a:r>
                        <a:rPr lang="en-US" sz="1600" dirty="0">
                          <a:solidFill>
                            <a:srgbClr val="14213D"/>
                          </a:solidFill>
                          <a:latin typeface="Calibri" pitchFamily="34" charset="0"/>
                          <a:ea typeface="Calibri" pitchFamily="34" charset="-122"/>
                          <a:cs typeface="Calibri" pitchFamily="34" charset="-120"/>
                        </a:rPr>
                        <a:t>put × logm</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tc>
                  <a:txBody>
                    <a:bodyPr/>
                    <a:lstStyle/>
                    <a:p>
                      <a:pPr marL="0" indent="0">
                        <a:buNone/>
                      </a:pPr>
                      <a:r>
                        <a:rPr lang="en-US" sz="1600" dirty="0">
                          <a:solidFill>
                            <a:srgbClr val="14213D"/>
                          </a:solidFill>
                          <a:latin typeface="Calibri" pitchFamily="34" charset="0"/>
                          <a:ea typeface="Calibri" pitchFamily="34" charset="-122"/>
                          <a:cs typeface="Calibri" pitchFamily="34" charset="-120"/>
                        </a:rPr>
                        <a:t>+0.11</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tc>
                  <a:txBody>
                    <a:bodyPr/>
                    <a:lstStyle/>
                    <a:p>
                      <a:pPr marL="0" indent="0">
                        <a:buNone/>
                      </a:pPr>
                      <a:r>
                        <a:rPr lang="en-US" sz="1600" dirty="0">
                          <a:solidFill>
                            <a:srgbClr val="3E4A5C"/>
                          </a:solidFill>
                          <a:latin typeface="Calibri" pitchFamily="34" charset="0"/>
                          <a:ea typeface="Calibri" pitchFamily="34" charset="-122"/>
                          <a:cs typeface="Calibri" pitchFamily="34" charset="-120"/>
                        </a:rPr>
                        <a:t>Calls y puts tienen pendientes distintas</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extLst>
                  <a:ext uri="{0D108BD9-81ED-4DB2-BD59-A6C34878D82A}">
                    <a16:rowId xmlns:a16="http://schemas.microsoft.com/office/drawing/2014/main" val="10004"/>
                  </a:ext>
                </a:extLst>
              </a:tr>
              <a:tr h="475488">
                <a:tc>
                  <a:txBody>
                    <a:bodyPr/>
                    <a:lstStyle/>
                    <a:p>
                      <a:pPr marL="0" indent="0">
                        <a:buNone/>
                      </a:pPr>
                      <a:r>
                        <a:rPr lang="en-US" sz="1600" dirty="0">
                          <a:solidFill>
                            <a:srgbClr val="14213D"/>
                          </a:solidFill>
                          <a:latin typeface="Calibri" pitchFamily="34" charset="0"/>
                          <a:ea typeface="Calibri" pitchFamily="34" charset="-122"/>
                          <a:cs typeface="Calibri" pitchFamily="34" charset="-120"/>
                        </a:rPr>
                        <a:t>logm · T</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tc>
                  <a:txBody>
                    <a:bodyPr/>
                    <a:lstStyle/>
                    <a:p>
                      <a:pPr marL="0" indent="0">
                        <a:buNone/>
                      </a:pPr>
                      <a:r>
                        <a:rPr lang="en-US" sz="1600" dirty="0">
                          <a:solidFill>
                            <a:srgbClr val="14213D"/>
                          </a:solidFill>
                          <a:latin typeface="Calibri" pitchFamily="34" charset="0"/>
                          <a:ea typeface="Calibri" pitchFamily="34" charset="-122"/>
                          <a:cs typeface="Calibri" pitchFamily="34" charset="-120"/>
                        </a:rPr>
                        <a:t>+0.05</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tc>
                  <a:txBody>
                    <a:bodyPr/>
                    <a:lstStyle/>
                    <a:p>
                      <a:pPr marL="0" indent="0">
                        <a:buNone/>
                      </a:pPr>
                      <a:r>
                        <a:rPr lang="en-US" sz="1600" dirty="0">
                          <a:solidFill>
                            <a:srgbClr val="3E4A5C"/>
                          </a:solidFill>
                          <a:latin typeface="Calibri" pitchFamily="34" charset="0"/>
                          <a:ea typeface="Calibri" pitchFamily="34" charset="-122"/>
                          <a:cs typeface="Calibri" pitchFamily="34" charset="-120"/>
                        </a:rPr>
                        <a:t>El skew se aplana en plazos largos</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extLst>
                  <a:ext uri="{0D108BD9-81ED-4DB2-BD59-A6C34878D82A}">
                    <a16:rowId xmlns:a16="http://schemas.microsoft.com/office/drawing/2014/main" val="10005"/>
                  </a:ext>
                </a:extLst>
              </a:tr>
              <a:tr h="475488">
                <a:tc>
                  <a:txBody>
                    <a:bodyPr/>
                    <a:lstStyle/>
                    <a:p>
                      <a:pPr marL="0" indent="0">
                        <a:buNone/>
                      </a:pPr>
                      <a:r>
                        <a:rPr lang="en-US" sz="1600" dirty="0">
                          <a:solidFill>
                            <a:srgbClr val="14213D"/>
                          </a:solidFill>
                          <a:latin typeface="Calibri" pitchFamily="34" charset="0"/>
                          <a:ea typeface="Calibri" pitchFamily="34" charset="-122"/>
                          <a:cs typeface="Calibri" pitchFamily="34" charset="-120"/>
                        </a:rPr>
                        <a:t>SPY vs AAPL</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tc>
                  <a:txBody>
                    <a:bodyPr/>
                    <a:lstStyle/>
                    <a:p>
                      <a:pPr marL="0" indent="0">
                        <a:buNone/>
                      </a:pPr>
                      <a:r>
                        <a:rPr lang="en-US" sz="1600" dirty="0">
                          <a:solidFill>
                            <a:srgbClr val="14213D"/>
                          </a:solidFill>
                          <a:latin typeface="Calibri" pitchFamily="34" charset="0"/>
                          <a:ea typeface="Calibri" pitchFamily="34" charset="-122"/>
                          <a:cs typeface="Calibri" pitchFamily="34" charset="-120"/>
                        </a:rPr>
                        <a:t>−0.41</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tc>
                  <a:txBody>
                    <a:bodyPr/>
                    <a:lstStyle/>
                    <a:p>
                      <a:pPr marL="0" indent="0">
                        <a:buNone/>
                      </a:pPr>
                      <a:r>
                        <a:rPr lang="en-US" sz="1600" dirty="0">
                          <a:solidFill>
                            <a:srgbClr val="3E4A5C"/>
                          </a:solidFill>
                          <a:latin typeface="Calibri" pitchFamily="34" charset="0"/>
                          <a:ea typeface="Calibri" pitchFamily="34" charset="-122"/>
                          <a:cs typeface="Calibri" pitchFamily="34" charset="-120"/>
                        </a:rPr>
                        <a:t>El índice es mucho menos volátil</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extLst>
                  <a:ext uri="{0D108BD9-81ED-4DB2-BD59-A6C34878D82A}">
                    <a16:rowId xmlns:a16="http://schemas.microsoft.com/office/drawing/2014/main" val="10006"/>
                  </a:ext>
                </a:extLst>
              </a:tr>
              <a:tr h="475488">
                <a:tc>
                  <a:txBody>
                    <a:bodyPr/>
                    <a:lstStyle/>
                    <a:p>
                      <a:pPr marL="0" indent="0">
                        <a:buNone/>
                      </a:pPr>
                      <a:r>
                        <a:rPr lang="en-US" sz="1600" dirty="0">
                          <a:solidFill>
                            <a:srgbClr val="14213D"/>
                          </a:solidFill>
                          <a:latin typeface="Calibri" pitchFamily="34" charset="0"/>
                          <a:ea typeface="Calibri" pitchFamily="34" charset="-122"/>
                          <a:cs typeface="Calibri" pitchFamily="34" charset="-120"/>
                        </a:rPr>
                        <a:t>TSLA vs AAPL</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tc>
                  <a:txBody>
                    <a:bodyPr/>
                    <a:lstStyle/>
                    <a:p>
                      <a:pPr marL="0" indent="0">
                        <a:buNone/>
                      </a:pPr>
                      <a:r>
                        <a:rPr lang="en-US" sz="1600" dirty="0">
                          <a:solidFill>
                            <a:srgbClr val="14213D"/>
                          </a:solidFill>
                          <a:latin typeface="Calibri" pitchFamily="34" charset="0"/>
                          <a:ea typeface="Calibri" pitchFamily="34" charset="-122"/>
                          <a:cs typeface="Calibri" pitchFamily="34" charset="-120"/>
                        </a:rPr>
                        <a:t>+0.38</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tc>
                  <a:txBody>
                    <a:bodyPr/>
                    <a:lstStyle/>
                    <a:p>
                      <a:pPr marL="0" indent="0">
                        <a:buNone/>
                      </a:pPr>
                      <a:r>
                        <a:rPr lang="en-US" sz="1600" dirty="0">
                          <a:solidFill>
                            <a:srgbClr val="3E4A5C"/>
                          </a:solidFill>
                          <a:latin typeface="Calibri" pitchFamily="34" charset="0"/>
                          <a:ea typeface="Calibri" pitchFamily="34" charset="-122"/>
                          <a:cs typeface="Calibri" pitchFamily="34" charset="-120"/>
                        </a:rPr>
                        <a:t>La acción más volátil de la muestra</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extLst>
                  <a:ext uri="{0D108BD9-81ED-4DB2-BD59-A6C34878D82A}">
                    <a16:rowId xmlns:a16="http://schemas.microsoft.com/office/drawing/2014/main" val="10007"/>
                  </a:ext>
                </a:extLst>
              </a:tr>
              <a:tr h="475488">
                <a:tc>
                  <a:txBody>
                    <a:bodyPr/>
                    <a:lstStyle/>
                    <a:p>
                      <a:pPr marL="0" indent="0">
                        <a:buNone/>
                      </a:pPr>
                      <a:r>
                        <a:rPr lang="en-US" sz="1600" dirty="0">
                          <a:solidFill>
                            <a:srgbClr val="14213D"/>
                          </a:solidFill>
                          <a:latin typeface="Calibri" pitchFamily="34" charset="0"/>
                          <a:ea typeface="Calibri" pitchFamily="34" charset="-122"/>
                          <a:cs typeface="Calibri" pitchFamily="34" charset="-120"/>
                        </a:rPr>
                        <a:t>MSFT vs AAPL</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tc>
                  <a:txBody>
                    <a:bodyPr/>
                    <a:lstStyle/>
                    <a:p>
                      <a:pPr marL="0" indent="0">
                        <a:buNone/>
                      </a:pPr>
                      <a:r>
                        <a:rPr lang="en-US" sz="1600" dirty="0">
                          <a:solidFill>
                            <a:srgbClr val="14213D"/>
                          </a:solidFill>
                          <a:latin typeface="Calibri" pitchFamily="34" charset="0"/>
                          <a:ea typeface="Calibri" pitchFamily="34" charset="-122"/>
                          <a:cs typeface="Calibri" pitchFamily="34" charset="-120"/>
                        </a:rPr>
                        <a:t>+0.04</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tc>
                  <a:txBody>
                    <a:bodyPr/>
                    <a:lstStyle/>
                    <a:p>
                      <a:pPr marL="0" indent="0">
                        <a:buNone/>
                      </a:pPr>
                      <a:r>
                        <a:rPr lang="en-US" sz="1600" dirty="0">
                          <a:solidFill>
                            <a:srgbClr val="3E4A5C"/>
                          </a:solidFill>
                          <a:latin typeface="Calibri" pitchFamily="34" charset="0"/>
                          <a:ea typeface="Calibri" pitchFamily="34" charset="-122"/>
                          <a:cs typeface="Calibri" pitchFamily="34" charset="-120"/>
                        </a:rPr>
                        <a:t>No significativo (p = 0.066)</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F"/>
        </a:solidFill>
        <a:effectLst/>
      </p:bgPr>
    </p:bg>
    <p:spTree>
      <p:nvGrpSpPr>
        <p:cNvPr id="1" name=""/>
        <p:cNvGrpSpPr/>
        <p:nvPr/>
      </p:nvGrpSpPr>
      <p:grpSpPr>
        <a:xfrm>
          <a:off x="0" y="0"/>
          <a:ext cx="0" cy="0"/>
          <a:chOff x="0" y="0"/>
          <a:chExt cx="0" cy="0"/>
        </a:xfrm>
      </p:grpSpPr>
      <p:sp>
        <p:nvSpPr>
          <p:cNvPr id="2" name="Text 0"/>
          <p:cNvSpPr txBox="1"/>
          <p:nvPr/>
        </p:nvSpPr>
        <p:spPr>
          <a:xfrm>
            <a:off x="548640" y="6355080"/>
            <a:ext cx="7315200" cy="274320"/>
          </a:xfrm>
          <a:prstGeom prst="rect">
            <a:avLst/>
          </a:prstGeom>
          <a:noFill/>
          <a:ln/>
        </p:spPr>
        <p:txBody>
          <a:bodyPr wrap="square" lIns="0" tIns="0" rIns="0" bIns="0" rtlCol="0" anchor="ctr"/>
          <a:lstStyle/>
          <a:p>
            <a:pPr marL="0" indent="0">
              <a:buNone/>
            </a:pPr>
            <a:r>
              <a:rPr lang="en-US" sz="1100" dirty="0">
                <a:solidFill>
                  <a:srgbClr val="5B6472"/>
                </a:solidFill>
                <a:latin typeface="Calibri" pitchFamily="34" charset="0"/>
                <a:ea typeface="Calibri" pitchFamily="34" charset="-122"/>
                <a:cs typeface="Calibri" pitchFamily="34" charset="-120"/>
              </a:rPr>
              <a:t>Superficie de volatilidad implícita · Análisis de Regresión</a:t>
            </a:r>
            <a:endParaRPr lang="en-US" sz="1100" dirty="0"/>
          </a:p>
        </p:txBody>
      </p:sp>
      <p:sp>
        <p:nvSpPr>
          <p:cNvPr id="3" name="Text 1"/>
          <p:cNvSpPr txBox="1"/>
          <p:nvPr/>
        </p:nvSpPr>
        <p:spPr>
          <a:xfrm>
            <a:off x="10728655" y="6355080"/>
            <a:ext cx="914400" cy="274320"/>
          </a:xfrm>
          <a:prstGeom prst="rect">
            <a:avLst/>
          </a:prstGeom>
          <a:noFill/>
          <a:ln/>
        </p:spPr>
        <p:txBody>
          <a:bodyPr wrap="square" lIns="0" tIns="0" rIns="0" bIns="0" rtlCol="0" anchor="ctr"/>
          <a:lstStyle/>
          <a:p>
            <a:pPr marL="0" indent="0" algn="r">
              <a:buNone/>
            </a:pPr>
            <a:r>
              <a:rPr lang="en-US" sz="1100" dirty="0">
                <a:solidFill>
                  <a:srgbClr val="5B6472"/>
                </a:solidFill>
                <a:latin typeface="Calibri" pitchFamily="34" charset="0"/>
                <a:ea typeface="Calibri" pitchFamily="34" charset="-122"/>
                <a:cs typeface="Calibri" pitchFamily="34" charset="-120"/>
              </a:rPr>
              <a:t>12</a:t>
            </a:r>
            <a:endParaRPr lang="en-US" sz="1100" dirty="0"/>
          </a:p>
        </p:txBody>
      </p:sp>
      <p:sp>
        <p:nvSpPr>
          <p:cNvPr id="4" name="Text 2"/>
          <p:cNvSpPr txBox="1"/>
          <p:nvPr/>
        </p:nvSpPr>
        <p:spPr>
          <a:xfrm>
            <a:off x="548640" y="411480"/>
            <a:ext cx="11094415" cy="731520"/>
          </a:xfrm>
          <a:prstGeom prst="rect">
            <a:avLst/>
          </a:prstGeom>
          <a:noFill/>
          <a:ln/>
        </p:spPr>
        <p:txBody>
          <a:bodyPr wrap="square" lIns="0" tIns="0" rIns="0" bIns="0" rtlCol="0" anchor="t"/>
          <a:lstStyle/>
          <a:p>
            <a:pPr marL="0" indent="0">
              <a:buNone/>
            </a:pPr>
            <a:r>
              <a:rPr lang="en-US" sz="3400" b="1" dirty="0">
                <a:solidFill>
                  <a:srgbClr val="14213D"/>
                </a:solidFill>
                <a:latin typeface="Cambria" pitchFamily="34" charset="0"/>
                <a:ea typeface="Cambria" pitchFamily="34" charset="-122"/>
                <a:cs typeface="Cambria" pitchFamily="34" charset="-120"/>
              </a:rPr>
              <a:t>Los seis problemas de la regresión</a:t>
            </a:r>
            <a:endParaRPr lang="en-US" sz="3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7432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4327855">
                  <a:extLst>
                    <a:ext uri="{9D8B030D-6E8A-4147-A177-3AD203B41FA5}">
                      <a16:colId xmlns:a16="http://schemas.microsoft.com/office/drawing/2014/main" val="20003"/>
                    </a:ext>
                  </a:extLst>
                </a:gridCol>
              </a:tblGrid>
              <a:tr h="475488">
                <a:tc>
                  <a:txBody>
                    <a:bodyPr/>
                    <a:lstStyle/>
                    <a:p>
                      <a:pPr marL="0" indent="0">
                        <a:buNone/>
                      </a:pPr>
                      <a:r>
                        <a:rPr lang="en-US" sz="1600" b="1" dirty="0">
                          <a:solidFill>
                            <a:srgbClr val="14213D"/>
                          </a:solidFill>
                          <a:latin typeface="Calibri" pitchFamily="34" charset="0"/>
                          <a:ea typeface="Calibri" pitchFamily="34" charset="-122"/>
                          <a:cs typeface="Calibri" pitchFamily="34" charset="-120"/>
                        </a:rPr>
                        <a:t>Problema</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solidFill>
                      <a:srgbClr val="ECE7DC"/>
                    </a:solidFill>
                  </a:tcPr>
                </a:tc>
                <a:tc>
                  <a:txBody>
                    <a:bodyPr/>
                    <a:lstStyle/>
                    <a:p>
                      <a:pPr marL="0" indent="0">
                        <a:buNone/>
                      </a:pPr>
                      <a:r>
                        <a:rPr lang="en-US" sz="1600" b="1" dirty="0">
                          <a:solidFill>
                            <a:srgbClr val="14213D"/>
                          </a:solidFill>
                          <a:latin typeface="Calibri" pitchFamily="34" charset="0"/>
                          <a:ea typeface="Calibri" pitchFamily="34" charset="-122"/>
                          <a:cs typeface="Calibri" pitchFamily="34" charset="-120"/>
                        </a:rPr>
                        <a:t>Prueba</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solidFill>
                      <a:srgbClr val="ECE7DC"/>
                    </a:solidFill>
                  </a:tcPr>
                </a:tc>
                <a:tc>
                  <a:txBody>
                    <a:bodyPr/>
                    <a:lstStyle/>
                    <a:p>
                      <a:pPr marL="0" indent="0">
                        <a:buNone/>
                      </a:pPr>
                      <a:r>
                        <a:rPr lang="en-US" sz="1600" b="1" dirty="0">
                          <a:solidFill>
                            <a:srgbClr val="14213D"/>
                          </a:solidFill>
                          <a:latin typeface="Calibri" pitchFamily="34" charset="0"/>
                          <a:ea typeface="Calibri" pitchFamily="34" charset="-122"/>
                          <a:cs typeface="Calibri" pitchFamily="34" charset="-120"/>
                        </a:rPr>
                        <a:t>Resultado</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solidFill>
                      <a:srgbClr val="ECE7DC"/>
                    </a:solidFill>
                  </a:tcPr>
                </a:tc>
                <a:tc>
                  <a:txBody>
                    <a:bodyPr/>
                    <a:lstStyle/>
                    <a:p>
                      <a:pPr marL="0" indent="0">
                        <a:buNone/>
                      </a:pPr>
                      <a:r>
                        <a:rPr lang="en-US" sz="1600" b="1" dirty="0">
                          <a:solidFill>
                            <a:srgbClr val="14213D"/>
                          </a:solidFill>
                          <a:latin typeface="Calibri" pitchFamily="34" charset="0"/>
                          <a:ea typeface="Calibri" pitchFamily="34" charset="-122"/>
                          <a:cs typeface="Calibri" pitchFamily="34" charset="-120"/>
                        </a:rPr>
                        <a:t>Lectura</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solidFill>
                      <a:srgbClr val="ECE7DC"/>
                    </a:solidFill>
                  </a:tcPr>
                </a:tc>
                <a:extLst>
                  <a:ext uri="{0D108BD9-81ED-4DB2-BD59-A6C34878D82A}">
                    <a16:rowId xmlns:a16="http://schemas.microsoft.com/office/drawing/2014/main" val="10000"/>
                  </a:ext>
                </a:extLst>
              </a:tr>
              <a:tr h="475488">
                <a:tc>
                  <a:txBody>
                    <a:bodyPr/>
                    <a:lstStyle/>
                    <a:p>
                      <a:pPr marL="0" indent="0">
                        <a:buNone/>
                      </a:pPr>
                      <a:r>
                        <a:rPr lang="en-US" sz="1600" dirty="0">
                          <a:solidFill>
                            <a:srgbClr val="14213D"/>
                          </a:solidFill>
                          <a:latin typeface="Calibri" pitchFamily="34" charset="0"/>
                          <a:ea typeface="Calibri" pitchFamily="34" charset="-122"/>
                          <a:cs typeface="Calibri" pitchFamily="34" charset="-120"/>
                        </a:rPr>
                        <a:t>No linealidad</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tc>
                  <a:txBody>
                    <a:bodyPr/>
                    <a:lstStyle/>
                    <a:p>
                      <a:pPr marL="0" indent="0">
                        <a:buNone/>
                      </a:pPr>
                      <a:r>
                        <a:rPr lang="en-US" sz="1600" dirty="0">
                          <a:solidFill>
                            <a:srgbClr val="3E4A5C"/>
                          </a:solidFill>
                          <a:latin typeface="Calibri" pitchFamily="34" charset="0"/>
                          <a:ea typeface="Calibri" pitchFamily="34" charset="-122"/>
                          <a:cs typeface="Calibri" pitchFamily="34" charset="-120"/>
                        </a:rPr>
                        <a:t>RESET</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tc>
                  <a:txBody>
                    <a:bodyPr/>
                    <a:lstStyle/>
                    <a:p>
                      <a:pPr marL="0" indent="0">
                        <a:buNone/>
                      </a:pPr>
                      <a:r>
                        <a:rPr lang="en-US" sz="1600" dirty="0">
                          <a:solidFill>
                            <a:srgbClr val="14213D"/>
                          </a:solidFill>
                          <a:latin typeface="Calibri" pitchFamily="34" charset="0"/>
                          <a:ea typeface="Calibri" pitchFamily="34" charset="-122"/>
                          <a:cs typeface="Calibri" pitchFamily="34" charset="-120"/>
                        </a:rPr>
                        <a:t>p ≈ 0</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tc>
                  <a:txBody>
                    <a:bodyPr/>
                    <a:lstStyle/>
                    <a:p>
                      <a:pPr marL="0" indent="0">
                        <a:buNone/>
                      </a:pPr>
                      <a:r>
                        <a:rPr lang="en-US" sz="1600" dirty="0">
                          <a:solidFill>
                            <a:srgbClr val="3E4A5C"/>
                          </a:solidFill>
                          <a:latin typeface="Calibri" pitchFamily="34" charset="0"/>
                          <a:ea typeface="Calibri" pitchFamily="34" charset="-122"/>
                          <a:cs typeface="Calibri" pitchFamily="34" charset="-120"/>
                        </a:rPr>
                        <a:t>Queda curvatura: motivó el Modelo 3</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buNone/>
                      </a:pPr>
                      <a:r>
                        <a:rPr lang="en-US" sz="1600" dirty="0">
                          <a:solidFill>
                            <a:srgbClr val="14213D"/>
                          </a:solidFill>
                          <a:latin typeface="Calibri" pitchFamily="34" charset="0"/>
                          <a:ea typeface="Calibri" pitchFamily="34" charset="-122"/>
                          <a:cs typeface="Calibri" pitchFamily="34" charset="-120"/>
                        </a:rPr>
                        <a:t>Correlación de errores</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tc>
                  <a:txBody>
                    <a:bodyPr/>
                    <a:lstStyle/>
                    <a:p>
                      <a:pPr marL="0" indent="0">
                        <a:buNone/>
                      </a:pPr>
                      <a:r>
                        <a:rPr lang="en-US" sz="1600" dirty="0">
                          <a:solidFill>
                            <a:srgbClr val="3E4A5C"/>
                          </a:solidFill>
                          <a:latin typeface="Calibri" pitchFamily="34" charset="0"/>
                          <a:ea typeface="Calibri" pitchFamily="34" charset="-122"/>
                          <a:cs typeface="Calibri" pitchFamily="34" charset="-120"/>
                        </a:rPr>
                        <a:t>Durbin–Watson</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tc>
                  <a:txBody>
                    <a:bodyPr/>
                    <a:lstStyle/>
                    <a:p>
                      <a:pPr marL="0" indent="0">
                        <a:buNone/>
                      </a:pPr>
                      <a:r>
                        <a:rPr lang="en-US" sz="1600" dirty="0">
                          <a:solidFill>
                            <a:srgbClr val="14213D"/>
                          </a:solidFill>
                          <a:latin typeface="Calibri" pitchFamily="34" charset="0"/>
                          <a:ea typeface="Calibri" pitchFamily="34" charset="-122"/>
                          <a:cs typeface="Calibri" pitchFamily="34" charset="-120"/>
                        </a:rPr>
                        <a:t>1.97</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tc>
                  <a:txBody>
                    <a:bodyPr/>
                    <a:lstStyle/>
                    <a:p>
                      <a:pPr marL="0" indent="0">
                        <a:buNone/>
                      </a:pPr>
                      <a:r>
                        <a:rPr lang="en-US" sz="1600" dirty="0">
                          <a:solidFill>
                            <a:srgbClr val="3E4A5C"/>
                          </a:solidFill>
                          <a:latin typeface="Calibri" pitchFamily="34" charset="0"/>
                          <a:ea typeface="Calibri" pitchFamily="34" charset="-122"/>
                          <a:cs typeface="Calibri" pitchFamily="34" charset="-120"/>
                        </a:rPr>
                        <a:t>Sin problema: corte transversal</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buNone/>
                      </a:pPr>
                      <a:r>
                        <a:rPr lang="en-US" sz="1600" dirty="0">
                          <a:solidFill>
                            <a:srgbClr val="14213D"/>
                          </a:solidFill>
                          <a:latin typeface="Calibri" pitchFamily="34" charset="0"/>
                          <a:ea typeface="Calibri" pitchFamily="34" charset="-122"/>
                          <a:cs typeface="Calibri" pitchFamily="34" charset="-120"/>
                        </a:rPr>
                        <a:t>Colinealidad</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tc>
                  <a:txBody>
                    <a:bodyPr/>
                    <a:lstStyle/>
                    <a:p>
                      <a:pPr marL="0" indent="0">
                        <a:buNone/>
                      </a:pPr>
                      <a:r>
                        <a:rPr lang="en-US" sz="1600" dirty="0">
                          <a:solidFill>
                            <a:srgbClr val="3E4A5C"/>
                          </a:solidFill>
                          <a:latin typeface="Calibri" pitchFamily="34" charset="0"/>
                          <a:ea typeface="Calibri" pitchFamily="34" charset="-122"/>
                          <a:cs typeface="Calibri" pitchFamily="34" charset="-120"/>
                        </a:rPr>
                        <a:t>VIF</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tc>
                  <a:txBody>
                    <a:bodyPr/>
                    <a:lstStyle/>
                    <a:p>
                      <a:pPr marL="0" indent="0">
                        <a:buNone/>
                      </a:pPr>
                      <a:r>
                        <a:rPr lang="en-US" sz="1600" dirty="0">
                          <a:solidFill>
                            <a:srgbClr val="14213D"/>
                          </a:solidFill>
                          <a:latin typeface="Calibri" pitchFamily="34" charset="0"/>
                          <a:ea typeface="Calibri" pitchFamily="34" charset="-122"/>
                          <a:cs typeface="Calibri" pitchFamily="34" charset="-120"/>
                        </a:rPr>
                        <a:t>hasta 63</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tc>
                  <a:txBody>
                    <a:bodyPr/>
                    <a:lstStyle/>
                    <a:p>
                      <a:pPr marL="0" indent="0">
                        <a:buNone/>
                      </a:pPr>
                      <a:r>
                        <a:rPr lang="en-US" sz="1600" dirty="0">
                          <a:solidFill>
                            <a:srgbClr val="3E4A5C"/>
                          </a:solidFill>
                          <a:latin typeface="Calibri" pitchFamily="34" charset="0"/>
                          <a:ea typeface="Calibri" pitchFamily="34" charset="-122"/>
                          <a:cs typeface="Calibri" pitchFamily="34" charset="-120"/>
                        </a:rPr>
                        <a:t>En T² y T³: el plazo toma pocos valores</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marL="0" indent="0">
                        <a:buNone/>
                      </a:pPr>
                      <a:r>
                        <a:rPr lang="en-US" sz="1600" dirty="0">
                          <a:solidFill>
                            <a:srgbClr val="14213D"/>
                          </a:solidFill>
                          <a:latin typeface="Calibri" pitchFamily="34" charset="0"/>
                          <a:ea typeface="Calibri" pitchFamily="34" charset="-122"/>
                          <a:cs typeface="Calibri" pitchFamily="34" charset="-120"/>
                        </a:rPr>
                        <a:t>Outliers</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tc>
                  <a:txBody>
                    <a:bodyPr/>
                    <a:lstStyle/>
                    <a:p>
                      <a:pPr marL="0" indent="0">
                        <a:buNone/>
                      </a:pPr>
                      <a:r>
                        <a:rPr lang="en-US" sz="1600" dirty="0">
                          <a:solidFill>
                            <a:srgbClr val="3E4A5C"/>
                          </a:solidFill>
                          <a:latin typeface="Calibri" pitchFamily="34" charset="0"/>
                          <a:ea typeface="Calibri" pitchFamily="34" charset="-122"/>
                          <a:cs typeface="Calibri" pitchFamily="34" charset="-120"/>
                        </a:rPr>
                        <a:t>|r studentizado| &gt; 3</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tc>
                  <a:txBody>
                    <a:bodyPr/>
                    <a:lstStyle/>
                    <a:p>
                      <a:pPr marL="0" indent="0">
                        <a:buNone/>
                      </a:pPr>
                      <a:r>
                        <a:rPr lang="en-US" sz="1600" dirty="0">
                          <a:solidFill>
                            <a:srgbClr val="14213D"/>
                          </a:solidFill>
                          <a:latin typeface="Calibri" pitchFamily="34" charset="0"/>
                          <a:ea typeface="Calibri" pitchFamily="34" charset="-122"/>
                          <a:cs typeface="Calibri" pitchFamily="34" charset="-120"/>
                        </a:rPr>
                        <a:t>36 (1%)</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tc>
                  <a:txBody>
                    <a:bodyPr/>
                    <a:lstStyle/>
                    <a:p>
                      <a:pPr marL="0" indent="0">
                        <a:buNone/>
                      </a:pPr>
                      <a:r>
                        <a:rPr lang="en-US" sz="1600" dirty="0">
                          <a:solidFill>
                            <a:srgbClr val="3E4A5C"/>
                          </a:solidFill>
                          <a:latin typeface="Calibri" pitchFamily="34" charset="0"/>
                          <a:ea typeface="Calibri" pitchFamily="34" charset="-122"/>
                          <a:cs typeface="Calibri" pitchFamily="34" charset="-120"/>
                        </a:rPr>
                        <a:t>Contratos ilíquidos de corto plazo</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extLst>
                  <a:ext uri="{0D108BD9-81ED-4DB2-BD59-A6C34878D82A}">
                    <a16:rowId xmlns:a16="http://schemas.microsoft.com/office/drawing/2014/main" val="10004"/>
                  </a:ext>
                </a:extLst>
              </a:tr>
              <a:tr h="475488">
                <a:tc>
                  <a:txBody>
                    <a:bodyPr/>
                    <a:lstStyle/>
                    <a:p>
                      <a:pPr marL="0" indent="0">
                        <a:buNone/>
                      </a:pPr>
                      <a:r>
                        <a:rPr lang="en-US" sz="1600" dirty="0">
                          <a:solidFill>
                            <a:srgbClr val="14213D"/>
                          </a:solidFill>
                          <a:latin typeface="Calibri" pitchFamily="34" charset="0"/>
                          <a:ea typeface="Calibri" pitchFamily="34" charset="-122"/>
                          <a:cs typeface="Calibri" pitchFamily="34" charset="-120"/>
                        </a:rPr>
                        <a:t>High leverage</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tc>
                  <a:txBody>
                    <a:bodyPr/>
                    <a:lstStyle/>
                    <a:p>
                      <a:pPr marL="0" indent="0">
                        <a:buNone/>
                      </a:pPr>
                      <a:r>
                        <a:rPr lang="en-US" sz="1600" dirty="0">
                          <a:solidFill>
                            <a:srgbClr val="3E4A5C"/>
                          </a:solidFill>
                          <a:latin typeface="Calibri" pitchFamily="34" charset="0"/>
                          <a:ea typeface="Calibri" pitchFamily="34" charset="-122"/>
                          <a:cs typeface="Calibri" pitchFamily="34" charset="-120"/>
                        </a:rPr>
                        <a:t>h &gt; 2p/n</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tc>
                  <a:txBody>
                    <a:bodyPr/>
                    <a:lstStyle/>
                    <a:p>
                      <a:pPr marL="0" indent="0">
                        <a:buNone/>
                      </a:pPr>
                      <a:r>
                        <a:rPr lang="en-US" sz="1600" dirty="0">
                          <a:solidFill>
                            <a:srgbClr val="14213D"/>
                          </a:solidFill>
                          <a:latin typeface="Calibri" pitchFamily="34" charset="0"/>
                          <a:ea typeface="Calibri" pitchFamily="34" charset="-122"/>
                          <a:cs typeface="Calibri" pitchFamily="34" charset="-120"/>
                        </a:rPr>
                        <a:t>307 (8.7%)</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tc>
                  <a:txBody>
                    <a:bodyPr/>
                    <a:lstStyle/>
                    <a:p>
                      <a:pPr marL="0" indent="0">
                        <a:buNone/>
                      </a:pPr>
                      <a:r>
                        <a:rPr lang="en-US" sz="1600" dirty="0">
                          <a:solidFill>
                            <a:srgbClr val="3E4A5C"/>
                          </a:solidFill>
                          <a:latin typeface="Calibri" pitchFamily="34" charset="0"/>
                          <a:ea typeface="Calibri" pitchFamily="34" charset="-122"/>
                          <a:cs typeface="Calibri" pitchFamily="34" charset="-120"/>
                        </a:rPr>
                        <a:t>Lejos del dinero y a plazo largo</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extLst>
                  <a:ext uri="{0D108BD9-81ED-4DB2-BD59-A6C34878D82A}">
                    <a16:rowId xmlns:a16="http://schemas.microsoft.com/office/drawing/2014/main" val="10005"/>
                  </a:ext>
                </a:extLst>
              </a:tr>
              <a:tr h="475488">
                <a:tc>
                  <a:txBody>
                    <a:bodyPr/>
                    <a:lstStyle/>
                    <a:p>
                      <a:pPr marL="0" indent="0">
                        <a:buNone/>
                      </a:pPr>
                      <a:r>
                        <a:rPr lang="en-US" sz="1600" dirty="0">
                          <a:solidFill>
                            <a:srgbClr val="14213D"/>
                          </a:solidFill>
                          <a:latin typeface="Calibri" pitchFamily="34" charset="0"/>
                          <a:ea typeface="Calibri" pitchFamily="34" charset="-122"/>
                          <a:cs typeface="Calibri" pitchFamily="34" charset="-120"/>
                        </a:rPr>
                        <a:t>Heterocedasticidad</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tc>
                  <a:txBody>
                    <a:bodyPr/>
                    <a:lstStyle/>
                    <a:p>
                      <a:pPr marL="0" indent="0">
                        <a:buNone/>
                      </a:pPr>
                      <a:r>
                        <a:rPr lang="en-US" sz="1600" dirty="0">
                          <a:solidFill>
                            <a:srgbClr val="3E4A5C"/>
                          </a:solidFill>
                          <a:latin typeface="Calibri" pitchFamily="34" charset="0"/>
                          <a:ea typeface="Calibri" pitchFamily="34" charset="-122"/>
                          <a:cs typeface="Calibri" pitchFamily="34" charset="-120"/>
                        </a:rPr>
                        <a:t>Breusch–Pagan</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tc>
                  <a:txBody>
                    <a:bodyPr/>
                    <a:lstStyle/>
                    <a:p>
                      <a:pPr marL="0" indent="0">
                        <a:buNone/>
                      </a:pPr>
                      <a:r>
                        <a:rPr lang="en-US" sz="1600" dirty="0">
                          <a:solidFill>
                            <a:srgbClr val="14213D"/>
                          </a:solidFill>
                          <a:latin typeface="Calibri" pitchFamily="34" charset="0"/>
                          <a:ea typeface="Calibri" pitchFamily="34" charset="-122"/>
                          <a:cs typeface="Calibri" pitchFamily="34" charset="-120"/>
                        </a:rPr>
                        <a:t>p ≈ 0</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tc>
                  <a:txBody>
                    <a:bodyPr/>
                    <a:lstStyle/>
                    <a:p>
                      <a:pPr marL="0" indent="0">
                        <a:buNone/>
                      </a:pPr>
                      <a:r>
                        <a:rPr lang="en-US" sz="1600" dirty="0">
                          <a:solidFill>
                            <a:srgbClr val="3E4A5C"/>
                          </a:solidFill>
                          <a:latin typeface="Calibri" pitchFamily="34" charset="0"/>
                          <a:ea typeface="Calibri" pitchFamily="34" charset="-122"/>
                          <a:cs typeface="Calibri" pitchFamily="34" charset="-120"/>
                        </a:rPr>
                        <a:t>Ligada a la liquidez: errores robustos</a:t>
                      </a:r>
                      <a:endParaRPr lang="en-US" sz="1600" dirty="0">
                        <a:latin typeface="Calibri" charset="0"/>
                        <a:ea typeface="Calibri" charset="0"/>
                        <a:cs typeface="Calibri" charset="0"/>
                      </a:endParaRPr>
                    </a:p>
                  </a:txBody>
                  <a:tcPr marL="101600" marR="101600" marT="50800" marB="50800" anchor="ctr">
                    <a:lnL w="9525" cap="flat" cmpd="sng" algn="ctr">
                      <a:solidFill>
                        <a:srgbClr val="D6D0C3"/>
                      </a:solidFill>
                      <a:prstDash val="solid"/>
                      <a:round/>
                      <a:headEnd type="none" w="med" len="med"/>
                      <a:tailEnd type="none" w="med" len="med"/>
                    </a:lnL>
                    <a:lnR w="9525" cap="flat" cmpd="sng" algn="ctr">
                      <a:solidFill>
                        <a:srgbClr val="D6D0C3"/>
                      </a:solidFill>
                      <a:prstDash val="solid"/>
                      <a:round/>
                      <a:headEnd type="none" w="med" len="med"/>
                      <a:tailEnd type="none" w="med" len="med"/>
                    </a:lnR>
                    <a:lnT w="9525" cap="flat" cmpd="sng" algn="ctr">
                      <a:solidFill>
                        <a:srgbClr val="D6D0C3"/>
                      </a:solidFill>
                      <a:prstDash val="solid"/>
                      <a:round/>
                      <a:headEnd type="none" w="med" len="med"/>
                      <a:tailEnd type="none" w="med" len="med"/>
                    </a:lnT>
                    <a:lnB w="9525" cap="flat" cmpd="sng" algn="ctr">
                      <a:solidFill>
                        <a:srgbClr val="D6D0C3"/>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Text 3"/>
          <p:cNvSpPr txBox="1"/>
          <p:nvPr/>
        </p:nvSpPr>
        <p:spPr>
          <a:xfrm>
            <a:off x="548640" y="4892040"/>
            <a:ext cx="11094415" cy="274320"/>
          </a:xfrm>
          <a:prstGeom prst="rect">
            <a:avLst/>
          </a:prstGeom>
          <a:noFill/>
          <a:ln/>
        </p:spPr>
        <p:txBody>
          <a:bodyPr wrap="square" lIns="0" tIns="0" rIns="0" bIns="0" rtlCol="0" anchor="ctr"/>
          <a:lstStyle/>
          <a:p>
            <a:pPr marL="0" indent="0">
              <a:buNone/>
            </a:pPr>
            <a:r>
              <a:rPr lang="en-US" sz="1200" dirty="0">
                <a:solidFill>
                  <a:srgbClr val="5B6472"/>
                </a:solidFill>
                <a:latin typeface="Calibri" pitchFamily="34" charset="0"/>
                <a:ea typeface="Calibri" pitchFamily="34" charset="-122"/>
                <a:cs typeface="Calibri" pitchFamily="34" charset="-120"/>
              </a:rPr>
              <a:t>Diagnóstico sobre el Modelo 2 sin penalización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213D"/>
        </a:solidFill>
        <a:effectLst/>
      </p:bgPr>
    </p:bg>
    <p:spTree>
      <p:nvGrpSpPr>
        <p:cNvPr id="1" name=""/>
        <p:cNvGrpSpPr/>
        <p:nvPr/>
      </p:nvGrpSpPr>
      <p:grpSpPr>
        <a:xfrm>
          <a:off x="0" y="0"/>
          <a:ext cx="0" cy="0"/>
          <a:chOff x="0" y="0"/>
          <a:chExt cx="0" cy="0"/>
        </a:xfrm>
      </p:grpSpPr>
      <p:sp>
        <p:nvSpPr>
          <p:cNvPr id="2" name="Text 0"/>
          <p:cNvSpPr txBox="1"/>
          <p:nvPr/>
        </p:nvSpPr>
        <p:spPr>
          <a:xfrm>
            <a:off x="548640" y="6355080"/>
            <a:ext cx="7315200" cy="274320"/>
          </a:xfrm>
          <a:prstGeom prst="rect">
            <a:avLst/>
          </a:prstGeom>
          <a:noFill/>
          <a:ln/>
        </p:spPr>
        <p:txBody>
          <a:bodyPr wrap="square" lIns="0" tIns="0" rIns="0" bIns="0" rtlCol="0" anchor="ctr"/>
          <a:lstStyle/>
          <a:p>
            <a:pPr marL="0" indent="0">
              <a:buNone/>
            </a:pPr>
            <a:r>
              <a:rPr lang="en-US" sz="1100" dirty="0">
                <a:solidFill>
                  <a:srgbClr val="C9D3E0"/>
                </a:solidFill>
                <a:latin typeface="Calibri" pitchFamily="34" charset="0"/>
                <a:ea typeface="Calibri" pitchFamily="34" charset="-122"/>
                <a:cs typeface="Calibri" pitchFamily="34" charset="-120"/>
              </a:rPr>
              <a:t>Superficie de volatilidad implícita · Análisis de Regresión</a:t>
            </a:r>
            <a:endParaRPr lang="en-US" sz="1100" dirty="0"/>
          </a:p>
        </p:txBody>
      </p:sp>
      <p:sp>
        <p:nvSpPr>
          <p:cNvPr id="3" name="Text 1"/>
          <p:cNvSpPr txBox="1"/>
          <p:nvPr/>
        </p:nvSpPr>
        <p:spPr>
          <a:xfrm>
            <a:off x="10728655" y="6355080"/>
            <a:ext cx="914400" cy="274320"/>
          </a:xfrm>
          <a:prstGeom prst="rect">
            <a:avLst/>
          </a:prstGeom>
          <a:noFill/>
          <a:ln/>
        </p:spPr>
        <p:txBody>
          <a:bodyPr wrap="square" lIns="0" tIns="0" rIns="0" bIns="0" rtlCol="0" anchor="ctr"/>
          <a:lstStyle/>
          <a:p>
            <a:pPr marL="0" indent="0" algn="r">
              <a:buNone/>
            </a:pPr>
            <a:r>
              <a:rPr lang="en-US" sz="1100" dirty="0">
                <a:solidFill>
                  <a:srgbClr val="C9D3E0"/>
                </a:solidFill>
                <a:latin typeface="Calibri" pitchFamily="34" charset="0"/>
                <a:ea typeface="Calibri" pitchFamily="34" charset="-122"/>
                <a:cs typeface="Calibri" pitchFamily="34" charset="-120"/>
              </a:rPr>
              <a:t>13</a:t>
            </a:r>
            <a:endParaRPr lang="en-US" sz="1100" dirty="0"/>
          </a:p>
        </p:txBody>
      </p:sp>
      <p:sp>
        <p:nvSpPr>
          <p:cNvPr id="4" name="Text 2"/>
          <p:cNvSpPr txBox="1"/>
          <p:nvPr/>
        </p:nvSpPr>
        <p:spPr>
          <a:xfrm>
            <a:off x="548640" y="411480"/>
            <a:ext cx="11094415" cy="731520"/>
          </a:xfrm>
          <a:prstGeom prst="rect">
            <a:avLst/>
          </a:prstGeom>
          <a:noFill/>
          <a:ln/>
        </p:spPr>
        <p:txBody>
          <a:bodyPr wrap="square" lIns="0" tIns="0" rIns="0" bIns="0" rtlCol="0" anchor="ctr"/>
          <a:lstStyle/>
          <a:p>
            <a:pPr marL="0" indent="0">
              <a:buNone/>
            </a:pPr>
            <a:r>
              <a:rPr lang="en-US" sz="3400" b="1" dirty="0">
                <a:solidFill>
                  <a:srgbClr val="F6F4EF"/>
                </a:solidFill>
                <a:latin typeface="Cambria" pitchFamily="34" charset="0"/>
                <a:ea typeface="Cambria" pitchFamily="34" charset="-122"/>
                <a:cs typeface="Cambria" pitchFamily="34" charset="-120"/>
              </a:rPr>
              <a:t>Conclusiones</a:t>
            </a:r>
            <a:endParaRPr lang="en-US" sz="3400" dirty="0"/>
          </a:p>
        </p:txBody>
      </p:sp>
      <p:sp>
        <p:nvSpPr>
          <p:cNvPr id="5" name="Text 3"/>
          <p:cNvSpPr txBox="1"/>
          <p:nvPr/>
        </p:nvSpPr>
        <p:spPr>
          <a:xfrm>
            <a:off x="548640" y="1463040"/>
            <a:ext cx="3423818" cy="640080"/>
          </a:xfrm>
          <a:prstGeom prst="rect">
            <a:avLst/>
          </a:prstGeom>
          <a:noFill/>
          <a:ln/>
        </p:spPr>
        <p:txBody>
          <a:bodyPr wrap="square" lIns="0" tIns="0" rIns="0" bIns="0" rtlCol="0" anchor="ctr"/>
          <a:lstStyle/>
          <a:p>
            <a:pPr marL="0" indent="0">
              <a:buNone/>
            </a:pPr>
            <a:r>
              <a:rPr lang="en-US" sz="3600" b="1" dirty="0">
                <a:solidFill>
                  <a:srgbClr val="8FC3CE"/>
                </a:solidFill>
                <a:latin typeface="Cambria" pitchFamily="34" charset="0"/>
                <a:ea typeface="Cambria" pitchFamily="34" charset="-122"/>
                <a:cs typeface="Cambria" pitchFamily="34" charset="-120"/>
              </a:rPr>
              <a:t>01</a:t>
            </a:r>
            <a:endParaRPr lang="en-US" sz="3600" dirty="0"/>
          </a:p>
        </p:txBody>
      </p:sp>
      <p:sp>
        <p:nvSpPr>
          <p:cNvPr id="6" name="Text 4"/>
          <p:cNvSpPr txBox="1"/>
          <p:nvPr/>
        </p:nvSpPr>
        <p:spPr>
          <a:xfrm>
            <a:off x="548640" y="2148840"/>
            <a:ext cx="3423818" cy="1828800"/>
          </a:xfrm>
          <a:prstGeom prst="rect">
            <a:avLst/>
          </a:prstGeom>
          <a:noFill/>
          <a:ln/>
        </p:spPr>
        <p:txBody>
          <a:bodyPr wrap="square" lIns="0" tIns="0" rIns="0" bIns="0" rtlCol="0" anchor="t"/>
          <a:lstStyle/>
          <a:p>
            <a:pPr marL="0" indent="0">
              <a:buNone/>
            </a:pPr>
            <a:r>
              <a:rPr lang="en-US" sz="1800" dirty="0">
                <a:solidFill>
                  <a:srgbClr val="F6F4EF"/>
                </a:solidFill>
                <a:latin typeface="Calibri" pitchFamily="34" charset="0"/>
                <a:ea typeface="Calibri" pitchFamily="34" charset="-122"/>
                <a:cs typeface="Calibri" pitchFamily="34" charset="-120"/>
              </a:rPr>
              <a:t>La VI depende de forma no lineal del moneyness y del plazo, con pendientes distintas para calls y puts y niveles propios de cada subyacente.</a:t>
            </a:r>
            <a:endParaRPr lang="en-US" sz="1800" dirty="0"/>
          </a:p>
        </p:txBody>
      </p:sp>
      <p:sp>
        <p:nvSpPr>
          <p:cNvPr id="7" name="Text 5"/>
          <p:cNvSpPr txBox="1"/>
          <p:nvPr/>
        </p:nvSpPr>
        <p:spPr>
          <a:xfrm>
            <a:off x="4383938" y="1463040"/>
            <a:ext cx="3423818" cy="640080"/>
          </a:xfrm>
          <a:prstGeom prst="rect">
            <a:avLst/>
          </a:prstGeom>
          <a:noFill/>
          <a:ln/>
        </p:spPr>
        <p:txBody>
          <a:bodyPr wrap="square" lIns="0" tIns="0" rIns="0" bIns="0" rtlCol="0" anchor="ctr"/>
          <a:lstStyle/>
          <a:p>
            <a:pPr marL="0" indent="0">
              <a:buNone/>
            </a:pPr>
            <a:r>
              <a:rPr lang="en-US" sz="3600" b="1" dirty="0">
                <a:solidFill>
                  <a:srgbClr val="8FC3CE"/>
                </a:solidFill>
                <a:latin typeface="Cambria" pitchFamily="34" charset="0"/>
                <a:ea typeface="Cambria" pitchFamily="34" charset="-122"/>
                <a:cs typeface="Cambria" pitchFamily="34" charset="-120"/>
              </a:rPr>
              <a:t>02</a:t>
            </a:r>
            <a:endParaRPr lang="en-US" sz="3600" dirty="0"/>
          </a:p>
        </p:txBody>
      </p:sp>
      <p:sp>
        <p:nvSpPr>
          <p:cNvPr id="8" name="Text 6"/>
          <p:cNvSpPr txBox="1"/>
          <p:nvPr/>
        </p:nvSpPr>
        <p:spPr>
          <a:xfrm>
            <a:off x="4383938" y="2148840"/>
            <a:ext cx="3423818" cy="1828800"/>
          </a:xfrm>
          <a:prstGeom prst="rect">
            <a:avLst/>
          </a:prstGeom>
          <a:noFill/>
          <a:ln/>
        </p:spPr>
        <p:txBody>
          <a:bodyPr wrap="square" lIns="0" tIns="0" rIns="0" bIns="0" rtlCol="0" anchor="t"/>
          <a:lstStyle/>
          <a:p>
            <a:pPr marL="0" indent="0">
              <a:buNone/>
            </a:pPr>
            <a:r>
              <a:rPr lang="en-US" sz="1800" dirty="0">
                <a:solidFill>
                  <a:srgbClr val="F6F4EF"/>
                </a:solidFill>
                <a:latin typeface="Calibri" pitchFamily="34" charset="0"/>
                <a:ea typeface="Calibri" pitchFamily="34" charset="-122"/>
                <a:cs typeface="Calibri" pitchFamily="34" charset="-120"/>
              </a:rPr>
              <a:t>La complejidad paga: el R² de validación cruzada sube de 0.58 a 0.735 y a 0.84.</a:t>
            </a:r>
            <a:endParaRPr lang="en-US" sz="1800" dirty="0"/>
          </a:p>
        </p:txBody>
      </p:sp>
      <p:sp>
        <p:nvSpPr>
          <p:cNvPr id="9" name="Text 7"/>
          <p:cNvSpPr txBox="1"/>
          <p:nvPr/>
        </p:nvSpPr>
        <p:spPr>
          <a:xfrm>
            <a:off x="8219237" y="1463040"/>
            <a:ext cx="3423818" cy="640080"/>
          </a:xfrm>
          <a:prstGeom prst="rect">
            <a:avLst/>
          </a:prstGeom>
          <a:noFill/>
          <a:ln/>
        </p:spPr>
        <p:txBody>
          <a:bodyPr wrap="square" lIns="0" tIns="0" rIns="0" bIns="0" rtlCol="0" anchor="ctr"/>
          <a:lstStyle/>
          <a:p>
            <a:pPr marL="0" indent="0">
              <a:buNone/>
            </a:pPr>
            <a:r>
              <a:rPr lang="en-US" sz="3600" b="1" dirty="0">
                <a:solidFill>
                  <a:srgbClr val="8FC3CE"/>
                </a:solidFill>
                <a:latin typeface="Cambria" pitchFamily="34" charset="0"/>
                <a:ea typeface="Cambria" pitchFamily="34" charset="-122"/>
                <a:cs typeface="Cambria" pitchFamily="34" charset="-120"/>
              </a:rPr>
              <a:t>03</a:t>
            </a:r>
            <a:endParaRPr lang="en-US" sz="3600" dirty="0"/>
          </a:p>
        </p:txBody>
      </p:sp>
      <p:sp>
        <p:nvSpPr>
          <p:cNvPr id="10" name="Text 8"/>
          <p:cNvSpPr txBox="1"/>
          <p:nvPr/>
        </p:nvSpPr>
        <p:spPr>
          <a:xfrm>
            <a:off x="8219237" y="2148840"/>
            <a:ext cx="3423818" cy="1828800"/>
          </a:xfrm>
          <a:prstGeom prst="rect">
            <a:avLst/>
          </a:prstGeom>
          <a:noFill/>
          <a:ln/>
        </p:spPr>
        <p:txBody>
          <a:bodyPr wrap="square" lIns="0" tIns="0" rIns="0" bIns="0" rtlCol="0" anchor="t"/>
          <a:lstStyle/>
          <a:p>
            <a:pPr marL="0" indent="0">
              <a:buNone/>
            </a:pPr>
            <a:r>
              <a:rPr lang="en-US" sz="1800" dirty="0">
                <a:solidFill>
                  <a:srgbClr val="F6F4EF"/>
                </a:solidFill>
                <a:latin typeface="Calibri" pitchFamily="34" charset="0"/>
                <a:ea typeface="Calibri" pitchFamily="34" charset="-122"/>
                <a:cs typeface="Calibri" pitchFamily="34" charset="-120"/>
              </a:rPr>
              <a:t>Con 216 columnas la regularización es indispensable. Lasso fue el mejor: estable en todos los pliegues y con 80 columnas menos.</a:t>
            </a:r>
            <a:endParaRPr lang="en-US" sz="1800" dirty="0"/>
          </a:p>
        </p:txBody>
      </p:sp>
      <p:sp>
        <p:nvSpPr>
          <p:cNvPr id="11" name="Text 9"/>
          <p:cNvSpPr txBox="1"/>
          <p:nvPr/>
        </p:nvSpPr>
        <p:spPr>
          <a:xfrm>
            <a:off x="548640" y="4206240"/>
            <a:ext cx="11094415" cy="822960"/>
          </a:xfrm>
          <a:prstGeom prst="rect">
            <a:avLst/>
          </a:prstGeom>
          <a:noFill/>
          <a:ln/>
        </p:spPr>
        <p:txBody>
          <a:bodyPr wrap="square" lIns="0" tIns="0" rIns="0" bIns="0" rtlCol="0" anchor="t"/>
          <a:lstStyle/>
          <a:p>
            <a:pPr marL="0" indent="0">
              <a:buNone/>
            </a:pPr>
            <a:r>
              <a:rPr lang="en-US" sz="2200" i="1" dirty="0">
                <a:solidFill>
                  <a:srgbClr val="F6F4EF"/>
                </a:solidFill>
                <a:latin typeface="Cambria" pitchFamily="34" charset="0"/>
                <a:ea typeface="Cambria" pitchFamily="34" charset="-122"/>
                <a:cs typeface="Cambria" pitchFamily="34" charset="-120"/>
              </a:rPr>
              <a:t>Lección metodológica: elegir el modelo por validación cruzada, no por una sola partición de prueba.</a:t>
            </a:r>
            <a:endParaRPr lang="en-US" sz="2200" dirty="0"/>
          </a:p>
        </p:txBody>
      </p:sp>
      <p:sp>
        <p:nvSpPr>
          <p:cNvPr id="12" name="Text 10"/>
          <p:cNvSpPr txBox="1"/>
          <p:nvPr/>
        </p:nvSpPr>
        <p:spPr>
          <a:xfrm>
            <a:off x="548640" y="5303520"/>
            <a:ext cx="11094415" cy="548640"/>
          </a:xfrm>
          <a:prstGeom prst="rect">
            <a:avLst/>
          </a:prstGeom>
          <a:noFill/>
          <a:ln/>
        </p:spPr>
        <p:txBody>
          <a:bodyPr wrap="square" lIns="0" tIns="0" rIns="0" bIns="0" rtlCol="0" anchor="t"/>
          <a:lstStyle/>
          <a:p>
            <a:pPr marL="0" indent="0">
              <a:buNone/>
            </a:pPr>
            <a:r>
              <a:rPr lang="en-US" sz="1400" dirty="0">
                <a:solidFill>
                  <a:srgbClr val="C9D3E0"/>
                </a:solidFill>
                <a:latin typeface="Calibri" pitchFamily="34" charset="0"/>
                <a:ea typeface="Calibri" pitchFamily="34" charset="-122"/>
                <a:cs typeface="Calibri" pitchFamily="34" charset="-120"/>
              </a:rPr>
              <a:t>Limitaciones: una sola fecha de captura, partición aleatoria (interpola, no extrapola) y R² medido en escala logarítmica.</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F"/>
        </a:solidFill>
        <a:effectLst/>
      </p:bgPr>
    </p:bg>
    <p:spTree>
      <p:nvGrpSpPr>
        <p:cNvPr id="1" name=""/>
        <p:cNvGrpSpPr/>
        <p:nvPr/>
      </p:nvGrpSpPr>
      <p:grpSpPr>
        <a:xfrm>
          <a:off x="0" y="0"/>
          <a:ext cx="0" cy="0"/>
          <a:chOff x="0" y="0"/>
          <a:chExt cx="0" cy="0"/>
        </a:xfrm>
      </p:grpSpPr>
      <p:sp>
        <p:nvSpPr>
          <p:cNvPr id="2" name="Text 0"/>
          <p:cNvSpPr txBox="1"/>
          <p:nvPr/>
        </p:nvSpPr>
        <p:spPr>
          <a:xfrm>
            <a:off x="548640" y="6355080"/>
            <a:ext cx="7315200" cy="274320"/>
          </a:xfrm>
          <a:prstGeom prst="rect">
            <a:avLst/>
          </a:prstGeom>
          <a:noFill/>
          <a:ln/>
        </p:spPr>
        <p:txBody>
          <a:bodyPr wrap="square" lIns="0" tIns="0" rIns="0" bIns="0" rtlCol="0" anchor="ctr"/>
          <a:lstStyle/>
          <a:p>
            <a:pPr marL="0" indent="0">
              <a:buNone/>
            </a:pPr>
            <a:r>
              <a:rPr lang="en-US" sz="1100" dirty="0">
                <a:solidFill>
                  <a:srgbClr val="5B6472"/>
                </a:solidFill>
                <a:latin typeface="Calibri" pitchFamily="34" charset="0"/>
                <a:ea typeface="Calibri" pitchFamily="34" charset="-122"/>
                <a:cs typeface="Calibri" pitchFamily="34" charset="-120"/>
              </a:rPr>
              <a:t>Superficie de volatilidad implícita · Análisis de Regresión</a:t>
            </a:r>
            <a:endParaRPr lang="en-US" sz="1100" dirty="0"/>
          </a:p>
        </p:txBody>
      </p:sp>
      <p:sp>
        <p:nvSpPr>
          <p:cNvPr id="3" name="Text 1"/>
          <p:cNvSpPr txBox="1"/>
          <p:nvPr/>
        </p:nvSpPr>
        <p:spPr>
          <a:xfrm>
            <a:off x="10728655" y="6355080"/>
            <a:ext cx="914400" cy="274320"/>
          </a:xfrm>
          <a:prstGeom prst="rect">
            <a:avLst/>
          </a:prstGeom>
          <a:noFill/>
          <a:ln/>
        </p:spPr>
        <p:txBody>
          <a:bodyPr wrap="square" lIns="0" tIns="0" rIns="0" bIns="0" rtlCol="0" anchor="ctr"/>
          <a:lstStyle/>
          <a:p>
            <a:pPr marL="0" indent="0" algn="r">
              <a:buNone/>
            </a:pPr>
            <a:r>
              <a:rPr lang="en-US" sz="1100" dirty="0">
                <a:solidFill>
                  <a:srgbClr val="5B6472"/>
                </a:solidFill>
                <a:latin typeface="Calibri" pitchFamily="34" charset="0"/>
                <a:ea typeface="Calibri" pitchFamily="34" charset="-122"/>
                <a:cs typeface="Calibri" pitchFamily="34" charset="-120"/>
              </a:rPr>
              <a:t>14</a:t>
            </a:r>
            <a:endParaRPr lang="en-US" sz="1100" dirty="0"/>
          </a:p>
        </p:txBody>
      </p:sp>
      <p:sp>
        <p:nvSpPr>
          <p:cNvPr id="4" name="Text 2"/>
          <p:cNvSpPr txBox="1"/>
          <p:nvPr/>
        </p:nvSpPr>
        <p:spPr>
          <a:xfrm>
            <a:off x="548640" y="411480"/>
            <a:ext cx="11094415" cy="731520"/>
          </a:xfrm>
          <a:prstGeom prst="rect">
            <a:avLst/>
          </a:prstGeom>
          <a:noFill/>
          <a:ln/>
        </p:spPr>
        <p:txBody>
          <a:bodyPr wrap="square" lIns="0" tIns="0" rIns="0" bIns="0" rtlCol="0" anchor="t"/>
          <a:lstStyle/>
          <a:p>
            <a:pPr marL="0" indent="0">
              <a:buNone/>
            </a:pPr>
            <a:r>
              <a:rPr lang="en-US" sz="3400" b="1" dirty="0">
                <a:solidFill>
                  <a:srgbClr val="14213D"/>
                </a:solidFill>
                <a:latin typeface="Cambria" pitchFamily="34" charset="0"/>
                <a:ea typeface="Cambria" pitchFamily="34" charset="-122"/>
                <a:cs typeface="Cambria" pitchFamily="34" charset="-120"/>
              </a:rPr>
              <a:t>Referencias y repositorio</a:t>
            </a:r>
            <a:endParaRPr lang="en-US" sz="3400" dirty="0"/>
          </a:p>
        </p:txBody>
      </p:sp>
      <p:sp>
        <p:nvSpPr>
          <p:cNvPr id="5" name="Text 3"/>
          <p:cNvSpPr txBox="1"/>
          <p:nvPr/>
        </p:nvSpPr>
        <p:spPr>
          <a:xfrm>
            <a:off x="548640" y="1325880"/>
            <a:ext cx="6766560" cy="4297680"/>
          </a:xfrm>
          <a:prstGeom prst="rect">
            <a:avLst/>
          </a:prstGeom>
          <a:noFill/>
          <a:ln/>
        </p:spPr>
        <p:txBody>
          <a:bodyPr wrap="square" lIns="0" tIns="0" rIns="0" bIns="0" rtlCol="0" anchor="t"/>
          <a:lstStyle/>
          <a:p>
            <a:pPr marL="0" indent="0">
              <a:buNone/>
            </a:pPr>
            <a:r>
              <a:rPr lang="en-US" sz="1300" dirty="0">
                <a:solidFill>
                  <a:srgbClr val="3E4A5C"/>
                </a:solidFill>
                <a:latin typeface="Calibri" pitchFamily="34" charset="0"/>
                <a:ea typeface="Calibri" pitchFamily="34" charset="-122"/>
                <a:cs typeface="Calibri" pitchFamily="34" charset="-120"/>
              </a:rPr>
              <a:t>Black, F., &amp; Scholes, M. (1973). The pricing of options and corporate liabilities. </a:t>
            </a:r>
            <a:r>
              <a:rPr lang="en-US" sz="1300" i="1" dirty="0">
                <a:solidFill>
                  <a:srgbClr val="3E4A5C"/>
                </a:solidFill>
                <a:latin typeface="Calibri" pitchFamily="34" charset="0"/>
                <a:ea typeface="Calibri" pitchFamily="34" charset="-122"/>
                <a:cs typeface="Calibri" pitchFamily="34" charset="-120"/>
              </a:rPr>
              <a:t>Journal of Political Economy, 81</a:t>
            </a:r>
            <a:r>
              <a:rPr lang="en-US" sz="1300" dirty="0">
                <a:solidFill>
                  <a:srgbClr val="3E4A5C"/>
                </a:solidFill>
                <a:latin typeface="Calibri" pitchFamily="34" charset="0"/>
                <a:ea typeface="Calibri" pitchFamily="34" charset="-122"/>
                <a:cs typeface="Calibri" pitchFamily="34" charset="-120"/>
              </a:rPr>
              <a:t>(3), 637–654.</a:t>
            </a:r>
            <a:endParaRPr lang="en-US" sz="1300" dirty="0"/>
          </a:p>
          <a:p>
            <a:pPr marL="0" indent="0">
              <a:buNone/>
            </a:pPr>
            <a:r>
              <a:rPr lang="en-US" sz="1300" dirty="0">
                <a:solidFill>
                  <a:srgbClr val="3E4A5C"/>
                </a:solidFill>
                <a:latin typeface="Calibri" pitchFamily="34" charset="0"/>
                <a:ea typeface="Calibri" pitchFamily="34" charset="-122"/>
                <a:cs typeface="Calibri" pitchFamily="34" charset="-120"/>
              </a:rPr>
              <a:t>Gatheral, J. (2006). </a:t>
            </a:r>
            <a:r>
              <a:rPr lang="en-US" sz="1300" i="1" dirty="0">
                <a:solidFill>
                  <a:srgbClr val="3E4A5C"/>
                </a:solidFill>
                <a:latin typeface="Calibri" pitchFamily="34" charset="0"/>
                <a:ea typeface="Calibri" pitchFamily="34" charset="-122"/>
                <a:cs typeface="Calibri" pitchFamily="34" charset="-120"/>
              </a:rPr>
              <a:t>The volatility surface: A practitioner’s guide</a:t>
            </a:r>
            <a:r>
              <a:rPr lang="en-US" sz="1300" dirty="0">
                <a:solidFill>
                  <a:srgbClr val="3E4A5C"/>
                </a:solidFill>
                <a:latin typeface="Calibri" pitchFamily="34" charset="0"/>
                <a:ea typeface="Calibri" pitchFamily="34" charset="-122"/>
                <a:cs typeface="Calibri" pitchFamily="34" charset="-120"/>
              </a:rPr>
              <a:t>. Wiley.</a:t>
            </a:r>
            <a:endParaRPr lang="en-US" sz="1300" dirty="0"/>
          </a:p>
          <a:p>
            <a:pPr marL="0" indent="0">
              <a:buNone/>
            </a:pPr>
            <a:r>
              <a:rPr lang="en-US" sz="1300" dirty="0">
                <a:solidFill>
                  <a:srgbClr val="3E4A5C"/>
                </a:solidFill>
                <a:latin typeface="Calibri" pitchFamily="34" charset="0"/>
                <a:ea typeface="Calibri" pitchFamily="34" charset="-122"/>
                <a:cs typeface="Calibri" pitchFamily="34" charset="-120"/>
              </a:rPr>
              <a:t>Hoerl, A. E., &amp; Kennard, R. W. (1970). Ridge regression: Biased estimation for nonorthogonal problems. </a:t>
            </a:r>
            <a:r>
              <a:rPr lang="en-US" sz="1300" i="1" dirty="0">
                <a:solidFill>
                  <a:srgbClr val="3E4A5C"/>
                </a:solidFill>
                <a:latin typeface="Calibri" pitchFamily="34" charset="0"/>
                <a:ea typeface="Calibri" pitchFamily="34" charset="-122"/>
                <a:cs typeface="Calibri" pitchFamily="34" charset="-120"/>
              </a:rPr>
              <a:t>Technometrics, 12</a:t>
            </a:r>
            <a:r>
              <a:rPr lang="en-US" sz="1300" dirty="0">
                <a:solidFill>
                  <a:srgbClr val="3E4A5C"/>
                </a:solidFill>
                <a:latin typeface="Calibri" pitchFamily="34" charset="0"/>
                <a:ea typeface="Calibri" pitchFamily="34" charset="-122"/>
                <a:cs typeface="Calibri" pitchFamily="34" charset="-120"/>
              </a:rPr>
              <a:t>(1), 55–67.</a:t>
            </a:r>
            <a:endParaRPr lang="en-US" sz="1300" dirty="0"/>
          </a:p>
          <a:p>
            <a:pPr marL="0" indent="0">
              <a:buNone/>
            </a:pPr>
            <a:r>
              <a:rPr lang="en-US" sz="1300" dirty="0">
                <a:solidFill>
                  <a:srgbClr val="3E4A5C"/>
                </a:solidFill>
                <a:latin typeface="Calibri" pitchFamily="34" charset="0"/>
                <a:ea typeface="Calibri" pitchFamily="34" charset="-122"/>
                <a:cs typeface="Calibri" pitchFamily="34" charset="-120"/>
              </a:rPr>
              <a:t>James, G., Witten, D., Hastie, T., &amp; Tibshirani, R. (2021). </a:t>
            </a:r>
            <a:r>
              <a:rPr lang="en-US" sz="1300" i="1" dirty="0">
                <a:solidFill>
                  <a:srgbClr val="3E4A5C"/>
                </a:solidFill>
                <a:latin typeface="Calibri" pitchFamily="34" charset="0"/>
                <a:ea typeface="Calibri" pitchFamily="34" charset="-122"/>
                <a:cs typeface="Calibri" pitchFamily="34" charset="-120"/>
              </a:rPr>
              <a:t>An introduction to statistical learning</a:t>
            </a:r>
            <a:r>
              <a:rPr lang="en-US" sz="1300" dirty="0">
                <a:solidFill>
                  <a:srgbClr val="3E4A5C"/>
                </a:solidFill>
                <a:latin typeface="Calibri" pitchFamily="34" charset="0"/>
                <a:ea typeface="Calibri" pitchFamily="34" charset="-122"/>
                <a:cs typeface="Calibri" pitchFamily="34" charset="-120"/>
              </a:rPr>
              <a:t> (2nd ed.). Springer.</a:t>
            </a:r>
            <a:endParaRPr lang="en-US" sz="1300" dirty="0"/>
          </a:p>
          <a:p>
            <a:pPr marL="0" indent="0">
              <a:buNone/>
            </a:pPr>
            <a:r>
              <a:rPr lang="en-US" sz="1300" dirty="0">
                <a:solidFill>
                  <a:srgbClr val="3E4A5C"/>
                </a:solidFill>
                <a:latin typeface="Calibri" pitchFamily="34" charset="0"/>
                <a:ea typeface="Calibri" pitchFamily="34" charset="-122"/>
                <a:cs typeface="Calibri" pitchFamily="34" charset="-120"/>
              </a:rPr>
              <a:t>Tibshirani, R. (1996). Regression shrinkage and selection via the Lasso. </a:t>
            </a:r>
            <a:r>
              <a:rPr lang="en-US" sz="1300" i="1" dirty="0">
                <a:solidFill>
                  <a:srgbClr val="3E4A5C"/>
                </a:solidFill>
                <a:latin typeface="Calibri" pitchFamily="34" charset="0"/>
                <a:ea typeface="Calibri" pitchFamily="34" charset="-122"/>
                <a:cs typeface="Calibri" pitchFamily="34" charset="-120"/>
              </a:rPr>
              <a:t>JRSS: Series B, 58</a:t>
            </a:r>
            <a:r>
              <a:rPr lang="en-US" sz="1300" dirty="0">
                <a:solidFill>
                  <a:srgbClr val="3E4A5C"/>
                </a:solidFill>
                <a:latin typeface="Calibri" pitchFamily="34" charset="0"/>
                <a:ea typeface="Calibri" pitchFamily="34" charset="-122"/>
                <a:cs typeface="Calibri" pitchFamily="34" charset="-120"/>
              </a:rPr>
              <a:t>(1), 267–288.</a:t>
            </a:r>
            <a:endParaRPr lang="en-US" sz="1300" dirty="0"/>
          </a:p>
          <a:p>
            <a:pPr marL="0" indent="0">
              <a:buNone/>
            </a:pPr>
            <a:r>
              <a:rPr lang="en-US" sz="1300" dirty="0">
                <a:solidFill>
                  <a:srgbClr val="3E4A5C"/>
                </a:solidFill>
                <a:latin typeface="Calibri" pitchFamily="34" charset="0"/>
                <a:ea typeface="Calibri" pitchFamily="34" charset="-122"/>
                <a:cs typeface="Calibri" pitchFamily="34" charset="-120"/>
              </a:rPr>
              <a:t>Zou, H., &amp; Hastie, T. (2005). Regularization and variable selection via the elastic net. </a:t>
            </a:r>
            <a:r>
              <a:rPr lang="en-US" sz="1300" i="1" dirty="0">
                <a:solidFill>
                  <a:srgbClr val="3E4A5C"/>
                </a:solidFill>
                <a:latin typeface="Calibri" pitchFamily="34" charset="0"/>
                <a:ea typeface="Calibri" pitchFamily="34" charset="-122"/>
                <a:cs typeface="Calibri" pitchFamily="34" charset="-120"/>
              </a:rPr>
              <a:t>JRSS: Series B, 67</a:t>
            </a:r>
            <a:r>
              <a:rPr lang="en-US" sz="1300" dirty="0">
                <a:solidFill>
                  <a:srgbClr val="3E4A5C"/>
                </a:solidFill>
                <a:latin typeface="Calibri" pitchFamily="34" charset="0"/>
                <a:ea typeface="Calibri" pitchFamily="34" charset="-122"/>
                <a:cs typeface="Calibri" pitchFamily="34" charset="-120"/>
              </a:rPr>
              <a:t>(2), 301–320.</a:t>
            </a:r>
            <a:endParaRPr lang="en-US" sz="1300" dirty="0"/>
          </a:p>
        </p:txBody>
      </p:sp>
      <p:sp>
        <p:nvSpPr>
          <p:cNvPr id="6" name="Text 4"/>
          <p:cNvSpPr txBox="1"/>
          <p:nvPr/>
        </p:nvSpPr>
        <p:spPr>
          <a:xfrm>
            <a:off x="548640" y="4434840"/>
            <a:ext cx="6766560" cy="274320"/>
          </a:xfrm>
          <a:prstGeom prst="rect">
            <a:avLst/>
          </a:prstGeom>
          <a:noFill/>
          <a:ln/>
        </p:spPr>
        <p:txBody>
          <a:bodyPr wrap="square" lIns="0" tIns="0" rIns="0" bIns="0" rtlCol="0" anchor="ctr"/>
          <a:lstStyle/>
          <a:p>
            <a:pPr marL="0" indent="0">
              <a:buNone/>
            </a:pPr>
            <a:r>
              <a:rPr lang="en-US" sz="1200" dirty="0">
                <a:solidFill>
                  <a:srgbClr val="5B6472"/>
                </a:solidFill>
                <a:latin typeface="Calibri" pitchFamily="34" charset="0"/>
                <a:ea typeface="Calibri" pitchFamily="34" charset="-122"/>
                <a:cs typeface="Calibri" pitchFamily="34" charset="-120"/>
              </a:rPr>
              <a:t>Lista completa en formato APA en el notebook.</a:t>
            </a:r>
            <a:endParaRPr lang="en-US" sz="1200" dirty="0"/>
          </a:p>
        </p:txBody>
      </p:sp>
      <p:sp>
        <p:nvSpPr>
          <p:cNvPr id="7" name="Shape 5"/>
          <p:cNvSpPr/>
          <p:nvPr/>
        </p:nvSpPr>
        <p:spPr>
          <a:xfrm>
            <a:off x="7772400" y="1325880"/>
            <a:ext cx="3870655" cy="3291840"/>
          </a:xfrm>
          <a:prstGeom prst="roundRect">
            <a:avLst>
              <a:gd name="adj" fmla="val 3333"/>
            </a:avLst>
          </a:prstGeom>
          <a:solidFill>
            <a:srgbClr val="ECE7DC"/>
          </a:solidFill>
          <a:ln w="12700">
            <a:solidFill>
              <a:srgbClr val="ECE7DC"/>
            </a:solidFill>
            <a:prstDash val="solid"/>
          </a:ln>
        </p:spPr>
        <p:txBody>
          <a:bodyPr/>
          <a:lstStyle/>
          <a:p>
            <a:endParaRPr lang="es-MX"/>
          </a:p>
        </p:txBody>
      </p:sp>
      <p:sp>
        <p:nvSpPr>
          <p:cNvPr id="8" name="Text 6"/>
          <p:cNvSpPr txBox="1"/>
          <p:nvPr/>
        </p:nvSpPr>
        <p:spPr>
          <a:xfrm>
            <a:off x="8138160" y="1645920"/>
            <a:ext cx="3139135" cy="274320"/>
          </a:xfrm>
          <a:prstGeom prst="rect">
            <a:avLst/>
          </a:prstGeom>
          <a:noFill/>
          <a:ln/>
        </p:spPr>
        <p:txBody>
          <a:bodyPr wrap="square" lIns="0" tIns="0" rIns="0" bIns="0" rtlCol="0" anchor="ctr"/>
          <a:lstStyle/>
          <a:p>
            <a:pPr marL="0" indent="0">
              <a:buNone/>
            </a:pPr>
            <a:r>
              <a:rPr lang="en-US" sz="1200" b="1" kern="0" spc="200" dirty="0">
                <a:solidFill>
                  <a:srgbClr val="1F7A8C"/>
                </a:solidFill>
                <a:latin typeface="Calibri" pitchFamily="34" charset="0"/>
                <a:ea typeface="Calibri" pitchFamily="34" charset="-122"/>
                <a:cs typeface="Calibri" pitchFamily="34" charset="-120"/>
              </a:rPr>
              <a:t>CÓDIGO Y DATOS</a:t>
            </a:r>
            <a:endParaRPr lang="en-US" sz="1200" dirty="0"/>
          </a:p>
        </p:txBody>
      </p:sp>
      <p:sp>
        <p:nvSpPr>
          <p:cNvPr id="9" name="Text 7"/>
          <p:cNvSpPr txBox="1"/>
          <p:nvPr/>
        </p:nvSpPr>
        <p:spPr>
          <a:xfrm>
            <a:off x="8138160" y="2057400"/>
            <a:ext cx="3139135" cy="1188720"/>
          </a:xfrm>
          <a:prstGeom prst="rect">
            <a:avLst/>
          </a:prstGeom>
          <a:noFill/>
          <a:ln/>
        </p:spPr>
        <p:txBody>
          <a:bodyPr wrap="square" lIns="0" tIns="0" rIns="0" bIns="0" rtlCol="0" anchor="t"/>
          <a:lstStyle/>
          <a:p>
            <a:r>
              <a:rPr lang="en-US" sz="1700" dirty="0"/>
              <a:t>https://</a:t>
            </a:r>
            <a:r>
              <a:rPr lang="en-US" sz="1700" dirty="0" err="1"/>
              <a:t>github.com</a:t>
            </a:r>
            <a:r>
              <a:rPr lang="en-US" sz="1700" dirty="0"/>
              <a:t>/</a:t>
            </a:r>
            <a:r>
              <a:rPr lang="en-US" sz="1700" dirty="0" err="1"/>
              <a:t>AlexaValdi</a:t>
            </a:r>
            <a:r>
              <a:rPr lang="en-US" sz="1700" dirty="0"/>
              <a:t>/Lab_3/blob/main/</a:t>
            </a:r>
            <a:r>
              <a:rPr lang="en-US" sz="1700" dirty="0" err="1"/>
              <a:t>Proyecto_Regresion_Volatilidad_Implicita.ipynb</a:t>
            </a:r>
            <a:endParaRPr lang="en-US" sz="1700" dirty="0"/>
          </a:p>
        </p:txBody>
      </p:sp>
      <p:sp>
        <p:nvSpPr>
          <p:cNvPr id="10" name="Text 8"/>
          <p:cNvSpPr txBox="1"/>
          <p:nvPr/>
        </p:nvSpPr>
        <p:spPr>
          <a:xfrm>
            <a:off x="8138160" y="3383280"/>
            <a:ext cx="3139135" cy="914400"/>
          </a:xfrm>
          <a:prstGeom prst="rect">
            <a:avLst/>
          </a:prstGeom>
          <a:noFill/>
          <a:ln/>
        </p:spPr>
        <p:txBody>
          <a:bodyPr wrap="square" lIns="0" tIns="0" rIns="0" bIns="0" rtlCol="0" anchor="t"/>
          <a:lstStyle/>
          <a:p>
            <a:pPr marL="0" indent="0">
              <a:buNone/>
            </a:pPr>
            <a:r>
              <a:rPr lang="en-US" sz="1500" dirty="0">
                <a:solidFill>
                  <a:srgbClr val="3E4A5C"/>
                </a:solidFill>
                <a:latin typeface="Calibri" pitchFamily="34" charset="0"/>
                <a:ea typeface="Calibri" pitchFamily="34" charset="-122"/>
                <a:cs typeface="Calibri" pitchFamily="34" charset="-120"/>
              </a:rPr>
              <a:t>Notebook completo, dataset y notebook de descarga de datos.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2756</Words>
  <Application>Microsoft Macintosh PowerPoint</Application>
  <PresentationFormat>Panorámica</PresentationFormat>
  <Paragraphs>252</Paragraphs>
  <Slides>14</Slides>
  <Notes>14</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14</vt:i4>
      </vt:variant>
    </vt:vector>
  </HeadingPairs>
  <TitlesOfParts>
    <vt:vector size="18"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Superficie de volatilidad implícita — Regresión</dc:title>
  <dc:subject>PptxGenJS Presentation</dc:subject>
  <dc:creator>PptxGenJS</dc:creator>
  <cp:lastModifiedBy>Alexa Valdivia</cp:lastModifiedBy>
  <cp:revision>3</cp:revision>
  <dcterms:created xsi:type="dcterms:W3CDTF">2026-09-21T05:28:36Z</dcterms:created>
  <dcterms:modified xsi:type="dcterms:W3CDTF">2026-09-21T23:42:01Z</dcterms:modified>
</cp:coreProperties>
</file>